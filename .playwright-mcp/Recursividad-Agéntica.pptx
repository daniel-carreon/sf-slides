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Presentarte brevemente. El título es 'Recursividad Agéntica'. Talent Land 2026, Developer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Quién eres. 3 años full time IA. 700+ miembros pagando. Todo lo que enseñas hoy corre en producción.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Levantar manos. Casi todos. Transición a la siguiente pregunta.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Pocas manos. Ese gap es la oportunidad.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Transición. Crear expectativa para METR.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METR. La curva de AI capability doubling. Explicar Time Horizon.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gráfica METR: Time Horizon 2019-2026. La curva exponencial.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Doubling time. Cada 7 meses → ahora cada 4. Aceleración.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Metodología METR. 230 tareas reales de coding. R² = 0.83 muestra correlación fuerte.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Extrapolación. Si la tendencia se mantiene: 2027 tareas de 1 día, 2028 de 1 semana, 2029 de 1 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hay señal de plateau. Cada punto de la curva supera las expectativas.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recientes sugieren super-exponencial. No solo exponencial. Se acelera la aceleración.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Concepto clave: agentes que mejoran a otros agentes. Recursividad. Chain reaction.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Progresión dramática. 30 seg → minutos → 14 HORAS. Opus 4.6 resuelve tareas de 14 horas de coding autónomo.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de impacto. Dejar que la frase aterrice. Pausa.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de METR a Intelligence Explosion.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Intelligence Explosion. Leopold Aschenbrenner. Labs confirmando. Pruebas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Situational Awareness paper. Leopold lo predijo antes de que pasara.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OpenAI, Anthropic, Google. Todos confirmaron inversiones masivas en AGI.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cadencia de releases. Anthropic lanza features cada semana. Apple tarda años.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base, herramientas, agentes. Las 3 capas del stack de Anthropic.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TurboQuant: 10x más eficiente, mismo hardware. Algorithmic efficiency unlocked.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Paradoja de Jevons anidada. Más eficiente → más uso → más inversión → MÁS eficiente.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6 pasos: pre-training, post-training, scaffolding, tools, compute, test-time compute.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6 pasos TODOS avanzan en paralelo. Cada uno alimenta a los demás.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Jensen Huang, CEO de NVIDIA, dijo en Lex Fridman podcast: AGI ya llegó. No es futuro.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Mythos filtrado. La jerarquía: Haiku → Sonnet → Opus → Mythos.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Analogía Trinity Test. El punto de no retorno. 1945 para nuclear, 2026 para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Urgencia. 18-24 meses de ventaja para quienes actúen AHORA.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al bloque práctico. Ya no solo datos, ahora acción.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central. El patrón: Recursividad Agéntica. Definición + principios + implementación.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 formal de Recursividad Agéntica. Leer lentamente. Dejar que sink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Principio 1: Velocidad del Silicio. Ya no codificas, defines. El agente ejecuta.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Principio 2: Iteración Convergente. Con suficientes iteraciones, converge al resultado correcto.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Principio 3: Antifragilidad. Nassim Taleb. Los errores son features, no bugs.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error del 99%: usar el mismo prompt para todo nivel de complejidad. Verde = trivial, rojo = explota.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over-plan. Just-in-time planning. Mapear contexto real, no hipotético.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Bucle agéntico. Fases, no subtareas. Karpathy's loop pattern. GPS recalculando.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pasos: Delimitar, Mapear, Ejecutar, Auto-Blindaje (CRÍTICO), Verificar. Paso 4 es morado.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AutoResearch = Karpathy pattern. FETCH→MUTATE→EVALUATE→KEEP/DISCARD→REPEAT. $1.50 por agente por noche.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 producción real. 11 scripts, 2 modelos ML, 3 agentes, 29 canales, 20 cron jobs, $5-7/noche.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 ciencia ficción. Es el changelog real de Anthropic. Ya está pasando.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 the mic. $5 por noche. Pausa larga.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del Megaprompt. Terminal izquierda, QR derecha. CTA: escanea y descarga.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Vibe coder vs arquitecto. La asimetría se amplía exponencialmente.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técnicas que enseñaste escalan con cada modelo nuevo. No se deprecian.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Urgencia constructiva. Lo que construyan HOY se multiplica. 4 meses.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filosófico. Vibe coding sin estructura = hobby. Con estructura = fábrica.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Redes. CTA: seguir en Twitter/X, visitar saasfactory.so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final. Gracias. Pausa. Aplausos.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1015746" y="762000"/>
            <a:ext cx="5078730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LAND | TALENT LAND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5746" y="1397000"/>
            <a:ext cx="5713571" cy="203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6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Recursividad</a:t>
            </a:r>
            <a:endParaRPr lang="en-US" sz="9600" dirty="0"/>
          </a:p>
          <a:p>
            <a:pPr algn="l" indent="0" marL="0">
              <a:buNone/>
            </a:pPr>
            <a:r>
              <a:rPr lang="en-US" sz="96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Agéntica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1015746" y="3556000"/>
            <a:ext cx="507873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Explosion: El mecanismo detrás de la</a:t>
            </a:r>
            <a:endParaRPr lang="en-US" sz="2200" dirty="0"/>
          </a:p>
          <a:p>
            <a:pPr algn="l" indent="0" marL="0">
              <a:buNone/>
            </a:pPr>
            <a:r>
              <a:rPr lang="en-US" sz="22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singularidad en producción.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15746" y="4318000"/>
            <a:ext cx="1904524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5746" y="4445000"/>
            <a:ext cx="19045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Carreon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15746" y="4667250"/>
            <a:ext cx="19045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Factory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18095" y="952500"/>
            <a:ext cx="3809048" cy="3810000"/>
          </a:xfrm>
          <a:prstGeom prst="ellipse">
            <a:avLst/>
          </a:prstGeom>
          <a:ln w="12700">
            <a:solidFill>
              <a:srgbClr val="F69F0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35516" y="1270000"/>
            <a:ext cx="3174206" cy="3175000"/>
          </a:xfrm>
          <a:prstGeom prst="ellipse">
            <a:avLst/>
          </a:prstGeom>
          <a:ln w="12700">
            <a:solidFill>
              <a:srgbClr val="8C27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52936" y="1587500"/>
            <a:ext cx="2539365" cy="2540000"/>
          </a:xfrm>
          <a:prstGeom prst="ellipse">
            <a:avLst/>
          </a:prstGeom>
          <a:ln w="12700">
            <a:solidFill>
              <a:srgbClr val="F69F0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00674" y="3175000"/>
            <a:ext cx="4126468" cy="2413000"/>
          </a:xfrm>
          <a:prstGeom prst="roundRect">
            <a:avLst>
              <a:gd name="adj" fmla="val 3157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00674" y="3175000"/>
            <a:ext cx="4126468" cy="203200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7402249" y="3238500"/>
            <a:ext cx="76181" cy="76200"/>
          </a:xfrm>
          <a:prstGeom prst="ellipse">
            <a:avLst/>
          </a:prstGeom>
          <a:solidFill>
            <a:srgbClr val="FF3333"/>
          </a:solidFill>
          <a:ln/>
        </p:spPr>
      </p:sp>
      <p:sp>
        <p:nvSpPr>
          <p:cNvPr id="15" name="Shape 13"/>
          <p:cNvSpPr/>
          <p:nvPr/>
        </p:nvSpPr>
        <p:spPr>
          <a:xfrm>
            <a:off x="7529217" y="3238500"/>
            <a:ext cx="76181" cy="7620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6" name="Shape 14"/>
          <p:cNvSpPr/>
          <p:nvPr/>
        </p:nvSpPr>
        <p:spPr>
          <a:xfrm>
            <a:off x="7656185" y="3238500"/>
            <a:ext cx="76181" cy="76200"/>
          </a:xfrm>
          <a:prstGeom prst="ellipse">
            <a:avLst/>
          </a:prstGeom>
          <a:solidFill>
            <a:srgbClr val="00CC66"/>
          </a:solidFill>
          <a:ln/>
        </p:spPr>
      </p:sp>
      <p:sp>
        <p:nvSpPr>
          <p:cNvPr id="17" name="Text 15"/>
          <p:cNvSpPr/>
          <p:nvPr/>
        </p:nvSpPr>
        <p:spPr>
          <a:xfrm>
            <a:off x="7427643" y="3479800"/>
            <a:ext cx="3809048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u="none" dirty="0">
                <a:solidFill>
                  <a:srgbClr val="F69F02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def recursive_agent(context):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27643" y="3657600"/>
            <a:ext cx="3809048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u="none" dirty="0">
                <a:solidFill>
                  <a:srgbClr val="DDDDDD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    result = execute(context)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27643" y="3835400"/>
            <a:ext cx="3809048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u="none" dirty="0">
                <a:solidFill>
                  <a:srgbClr val="DDDDDD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    verified = auto_shield(result)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27643" y="4013200"/>
            <a:ext cx="3809048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u="none" dirty="0">
                <a:solidFill>
                  <a:srgbClr val="8C27F1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    if not verified.passed: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27643" y="4191000"/>
            <a:ext cx="3809048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u="none" dirty="0">
                <a:solidFill>
                  <a:srgbClr val="00CC66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        return recursive_agent(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27643" y="4368800"/>
            <a:ext cx="3809048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u="none" dirty="0">
                <a:solidFill>
                  <a:srgbClr val="00CC66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            context.evolve(result))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27643" y="4546600"/>
            <a:ext cx="3809048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u="none" dirty="0">
                <a:solidFill>
                  <a:srgbClr val="666666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    return result  # convergence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904524" y="317500"/>
            <a:ext cx="507873" cy="508000"/>
          </a:xfrm>
          <a:prstGeom prst="ellipse">
            <a:avLst/>
          </a:prstGeom>
          <a:solidFill>
            <a:srgbClr val="F69F02"/>
          </a:solidFill>
          <a:ln/>
        </p:spPr>
      </p:sp>
      <p:sp>
        <p:nvSpPr>
          <p:cNvPr id="25" name="Shape 23"/>
          <p:cNvSpPr/>
          <p:nvPr/>
        </p:nvSpPr>
        <p:spPr>
          <a:xfrm>
            <a:off x="5713571" y="190500"/>
            <a:ext cx="761810" cy="762000"/>
          </a:xfrm>
          <a:prstGeom prst="ellipse">
            <a:avLst/>
          </a:prstGeom>
          <a:solidFill>
            <a:srgbClr val="F69F02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57460" y="508000"/>
            <a:ext cx="380905" cy="381000"/>
          </a:xfrm>
          <a:prstGeom prst="ellipse">
            <a:avLst/>
          </a:prstGeom>
          <a:solidFill>
            <a:srgbClr val="8C27F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1015746" y="381000"/>
            <a:ext cx="1904524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5746" y="635000"/>
            <a:ext cx="507873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Carreon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015746" y="1270000"/>
            <a:ext cx="1269683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5746" y="1524000"/>
            <a:ext cx="4951762" cy="635000"/>
          </a:xfrm>
          <a:prstGeom prst="roundRect">
            <a:avLst>
              <a:gd name="adj" fmla="val 13997"/>
            </a:avLst>
          </a:prstGeom>
          <a:solidFill>
            <a:srgbClr val="111111"/>
          </a:solidFill>
          <a:ln w="12700">
            <a:solidFill>
              <a:srgbClr val="F69F0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8895" y="1682750"/>
            <a:ext cx="4545463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u="none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Mecatrónica → Ciencia de Datos → 3 años full time en IA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15746" y="2286000"/>
            <a:ext cx="4951762" cy="635000"/>
          </a:xfrm>
          <a:prstGeom prst="roundRect">
            <a:avLst>
              <a:gd name="adj" fmla="val 13997"/>
            </a:avLst>
          </a:prstGeom>
          <a:solidFill>
            <a:srgbClr val="111111"/>
          </a:solidFill>
          <a:ln w="12700">
            <a:solidFill>
              <a:srgbClr val="8C27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8895" y="2444750"/>
            <a:ext cx="4545463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u="none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Factory Community: 700+ miembros pagando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15746" y="3048000"/>
            <a:ext cx="4951762" cy="635000"/>
          </a:xfrm>
          <a:prstGeom prst="roundRect">
            <a:avLst>
              <a:gd name="adj" fmla="val 13997"/>
            </a:avLst>
          </a:prstGeom>
          <a:solidFill>
            <a:srgbClr val="111111"/>
          </a:solidFill>
          <a:ln w="12700">
            <a:solidFill>
              <a:srgbClr val="F69F0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8895" y="3206750"/>
            <a:ext cx="4545463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u="none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Next.js 16, React 19, Supabase, Claude Code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15746" y="3810000"/>
            <a:ext cx="4951762" cy="635000"/>
          </a:xfrm>
          <a:prstGeom prst="roundRect">
            <a:avLst>
              <a:gd name="adj" fmla="val 13997"/>
            </a:avLst>
          </a:prstGeom>
          <a:solidFill>
            <a:srgbClr val="111111"/>
          </a:solidFill>
          <a:ln w="12700">
            <a:solidFill>
              <a:srgbClr val="8C27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8895" y="3968750"/>
            <a:ext cx="4545463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u="none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agentes IA 24/7, pipeline ML, 20 cron jobs en producción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15746" y="4826000"/>
            <a:ext cx="507873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i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 les enseño hoy corre en mi producción ahora mismo.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983254" y="1524000"/>
            <a:ext cx="4189952" cy="2921000"/>
          </a:xfrm>
          <a:prstGeom prst="roundRect">
            <a:avLst>
              <a:gd name="adj" fmla="val 3477"/>
            </a:avLst>
          </a:prstGeom>
          <a:solidFill>
            <a:srgbClr val="2A2A2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83254" y="2730500"/>
            <a:ext cx="4189952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u="none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[FOTO SPEAKER]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1905000"/>
            <a:ext cx="10157460" cy="190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de aquí</a:t>
            </a:r>
            <a:endParaRPr lang="en-US" sz="8000" dirty="0"/>
          </a:p>
          <a:p>
            <a:pPr algn="ctr" indent="0" marL="0">
              <a:buNone/>
            </a:pPr>
            <a:r>
              <a:rPr lang="en-US" sz="80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 usado ChatGPT?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1269683" y="381000"/>
            <a:ext cx="634841" cy="635000"/>
          </a:xfrm>
          <a:prstGeom prst="ellipse">
            <a:avLst/>
          </a:prstGeom>
          <a:solidFill>
            <a:srgbClr val="F69F02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1651000"/>
            <a:ext cx="10157460" cy="177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ha usado</a:t>
            </a:r>
            <a:endParaRPr lang="en-US" sz="8000" dirty="0"/>
          </a:p>
          <a:p>
            <a:pPr algn="ctr" indent="0" marL="0">
              <a:buNone/>
            </a:pPr>
            <a:r>
              <a:rPr lang="en-US" sz="80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4.6?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2285429" y="3683000"/>
            <a:ext cx="7618095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más avanzado a día de hoy.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2159000"/>
            <a:ext cx="1015746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les voy a mostrar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1650587" y="2984500"/>
            <a:ext cx="8887778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por qué ese modelo es solo el principio.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1015746" y="1270000"/>
            <a:ext cx="3809048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 TIME HORIZON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5746" y="1778000"/>
            <a:ext cx="7618095" cy="152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Nueva Ley de Moore</a:t>
            </a:r>
            <a:endParaRPr lang="en-US" sz="6400" dirty="0"/>
          </a:p>
          <a:p>
            <a:pPr algn="l" indent="0" marL="0">
              <a:buNone/>
            </a:pPr>
            <a:r>
              <a:rPr lang="en-US" sz="6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Agentes IA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1015746" y="3492500"/>
            <a:ext cx="253936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5746" y="3683000"/>
            <a:ext cx="3809048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u="none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METR / AI Digest. Marzo 2026.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887778" y="635000"/>
            <a:ext cx="1269683" cy="1270000"/>
          </a:xfrm>
          <a:prstGeom prst="ellipse">
            <a:avLst/>
          </a:prstGeom>
          <a:solidFill>
            <a:srgbClr val="F69F02"/>
          </a:solidFill>
          <a:ln/>
        </p:spPr>
      </p:sp>
      <p:sp>
        <p:nvSpPr>
          <p:cNvPr id="8" name="Shape 6"/>
          <p:cNvSpPr/>
          <p:nvPr/>
        </p:nvSpPr>
        <p:spPr>
          <a:xfrm>
            <a:off x="10157460" y="2540000"/>
            <a:ext cx="952262" cy="952500"/>
          </a:xfrm>
          <a:prstGeom prst="ellipse">
            <a:avLst/>
          </a:prstGeom>
          <a:solidFill>
            <a:srgbClr val="8C27F1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17500"/>
            <a:ext cx="10665333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2019-2026: La curva que nadie te está mostrando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824794" y="825500"/>
            <a:ext cx="253936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079500"/>
            <a:ext cx="10157460" cy="508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IMAGEN]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17500"/>
            <a:ext cx="10665333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duplica cada 7 meses. Recientemente cada 4.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824794" y="825500"/>
            <a:ext cx="253936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079500"/>
            <a:ext cx="10157460" cy="508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IMAGEN]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17500"/>
            <a:ext cx="10665333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 tareas de coding medidas. R² = 0.83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824794" y="825500"/>
            <a:ext cx="253936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079500"/>
            <a:ext cx="10157460" cy="508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IMAGEN]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17500"/>
            <a:ext cx="10665333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2027: un día. 2028: una semana. 2029: un mes.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824794" y="825500"/>
            <a:ext cx="253936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079500"/>
            <a:ext cx="10157460" cy="508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IMAGEN]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17500"/>
            <a:ext cx="10665333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tendencia se ACELERA. No hay plateau.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824794" y="825500"/>
            <a:ext cx="253936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079500"/>
            <a:ext cx="10157460" cy="508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IMAGEN]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17500"/>
            <a:ext cx="10665333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0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Podría ser SUPEREXPONENCIAL.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824794" y="825500"/>
            <a:ext cx="253936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079500"/>
            <a:ext cx="10157460" cy="508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IMAGEN]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17500"/>
            <a:ext cx="10665333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reacción en cadena de agentes mejorando agentes.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824794" y="825500"/>
            <a:ext cx="253936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079500"/>
            <a:ext cx="10157460" cy="508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IMAGEN]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4524" y="1270000"/>
            <a:ext cx="5078730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u="none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2022: 30 segundos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904524" y="1905000"/>
            <a:ext cx="5078730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u="none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2024: minutos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15746" y="2667000"/>
            <a:ext cx="7618095" cy="101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6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2026: 14 HORAS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1904524" y="3810000"/>
            <a:ext cx="2539365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4.6.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587103" y="1143000"/>
            <a:ext cx="0" cy="317500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2032000"/>
            <a:ext cx="1015746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6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que usas HOY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650587" y="2857500"/>
            <a:ext cx="8887778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i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más débil que jamás vas a volver a usar.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2222500"/>
            <a:ext cx="1015746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 es lo que mide METR.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285429" y="2984500"/>
            <a:ext cx="7618095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hay algo más grande pasando.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1015746" y="1587500"/>
            <a:ext cx="5078730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EXPLOSION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5746" y="2095500"/>
            <a:ext cx="7618095" cy="152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no es teoría.</a:t>
            </a:r>
            <a:endParaRPr lang="en-US" sz="7200" dirty="0"/>
          </a:p>
          <a:p>
            <a:pPr algn="l" indent="0" marL="0">
              <a:buNone/>
            </a:pPr>
            <a:r>
              <a:rPr lang="en-US" sz="7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está aquí.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015746" y="3810000"/>
            <a:ext cx="253936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52936" y="508000"/>
            <a:ext cx="1587103" cy="1587500"/>
          </a:xfrm>
          <a:prstGeom prst="ellipse">
            <a:avLst/>
          </a:prstGeom>
          <a:solidFill>
            <a:srgbClr val="F69F02"/>
          </a:solidFill>
          <a:ln/>
        </p:spPr>
      </p:sp>
      <p:sp>
        <p:nvSpPr>
          <p:cNvPr id="7" name="Shape 5"/>
          <p:cNvSpPr/>
          <p:nvPr/>
        </p:nvSpPr>
        <p:spPr>
          <a:xfrm>
            <a:off x="9522619" y="3175000"/>
            <a:ext cx="1142714" cy="1143000"/>
          </a:xfrm>
          <a:prstGeom prst="ellipse">
            <a:avLst/>
          </a:prstGeom>
          <a:solidFill>
            <a:srgbClr val="8C27F1"/>
          </a:solidFill>
          <a:ln/>
        </p:spPr>
      </p:sp>
      <p:sp>
        <p:nvSpPr>
          <p:cNvPr id="8" name="Shape 6"/>
          <p:cNvSpPr/>
          <p:nvPr/>
        </p:nvSpPr>
        <p:spPr>
          <a:xfrm>
            <a:off x="634841" y="317500"/>
            <a:ext cx="761810" cy="762000"/>
          </a:xfrm>
          <a:prstGeom prst="ellipse">
            <a:avLst/>
          </a:prstGeom>
          <a:solidFill>
            <a:srgbClr val="F69F02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17500"/>
            <a:ext cx="10665333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Situational Awareness: Leopold Aschenbrenner lo predijo en 2024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89952" y="825500"/>
            <a:ext cx="3809048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079500"/>
            <a:ext cx="10157460" cy="508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IMAGEN: 01-situational-awareness.png]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17500"/>
            <a:ext cx="10665333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3 grandes labs ya lo confirmaron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824794" y="825500"/>
            <a:ext cx="253936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079500"/>
            <a:ext cx="10157460" cy="508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 w="25400">
            <a:solidFill>
              <a:srgbClr val="8C27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IMAGEN: 02-los-labs-confirmaron.png]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17500"/>
            <a:ext cx="10665333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changelog como prueba: Anthropic 45x más rápido que Apple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89952" y="825500"/>
            <a:ext cx="3809048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079500"/>
            <a:ext cx="10157460" cy="508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IMAGEN: 03-changelog-como-prueba.png]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17500"/>
            <a:ext cx="10665333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3 capas que Anthropic construye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824794" y="825500"/>
            <a:ext cx="2539365" cy="0"/>
          </a:xfrm>
          <a:prstGeom prst="line">
            <a:avLst/>
          </a:prstGeom>
          <a:noFill/>
          <a:ln w="25400">
            <a:solidFill>
              <a:srgbClr val="8C27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079500"/>
            <a:ext cx="10157460" cy="508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 w="25400">
            <a:solidFill>
              <a:srgbClr val="8C27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IMAGEN: 04-tres-capas-anthropic.png]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17500"/>
            <a:ext cx="10665333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TurboQuant: 10x más eficiente. Mismo hardware.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824794" y="825500"/>
            <a:ext cx="253936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079500"/>
            <a:ext cx="10157460" cy="508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IMAGEN: 05-turboquant.png]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17500"/>
            <a:ext cx="10665333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Jevons dentro de Jevons: la eficiencia genera más eficiencia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89952" y="825500"/>
            <a:ext cx="3809048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079500"/>
            <a:ext cx="10157460" cy="508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IMAGEN: 06-jevons-dentro-de-jevons.png]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17500"/>
            <a:ext cx="10665333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6 pasos de la auto-mejora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824794" y="825500"/>
            <a:ext cx="2539365" cy="0"/>
          </a:xfrm>
          <a:prstGeom prst="line">
            <a:avLst/>
          </a:prstGeom>
          <a:noFill/>
          <a:ln w="25400">
            <a:solidFill>
              <a:srgbClr val="8C27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079500"/>
            <a:ext cx="10157460" cy="508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 w="25400">
            <a:solidFill>
              <a:srgbClr val="8C27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IMAGEN: 07-seis-pasos.png]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254000"/>
            <a:ext cx="10665333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son secuenciales. Son PARALELOS.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una reacción en cadena.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89952" y="889000"/>
            <a:ext cx="3809048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111250"/>
            <a:ext cx="10157460" cy="5016500"/>
          </a:xfrm>
          <a:prstGeom prst="roundRect">
            <a:avLst>
              <a:gd name="adj" fmla="val 2025"/>
            </a:avLst>
          </a:prstGeom>
          <a:solidFill>
            <a:srgbClr val="1A1A1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IMAGEN: 08-pasos-paralelos.png]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50587" y="1905000"/>
            <a:ext cx="8887778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Jensen Huang dijo en Lex Fridman: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15746" y="2540000"/>
            <a:ext cx="10157460" cy="101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6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 ya llegó.</a:t>
            </a:r>
            <a:endParaRPr lang="en-US" sz="9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17500"/>
            <a:ext cx="10665333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semana se filtró Claude Mythos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824794" y="825500"/>
            <a:ext cx="2539365" cy="0"/>
          </a:xfrm>
          <a:prstGeom prst="line">
            <a:avLst/>
          </a:prstGeom>
          <a:noFill/>
          <a:ln w="25400">
            <a:solidFill>
              <a:srgbClr val="8C27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079500"/>
            <a:ext cx="10157460" cy="508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 w="25400">
            <a:solidFill>
              <a:srgbClr val="8C27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IMAGEN: jerarquía Claude / timeline]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17500"/>
            <a:ext cx="10665333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Momento Trinity: 1945 vs 2026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824794" y="825500"/>
            <a:ext cx="253936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079500"/>
            <a:ext cx="10157460" cy="508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IMAGEN: 10-momento-trinity.png]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17500"/>
            <a:ext cx="10665333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ventana se cierra. 18-24 meses de ventaja.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824794" y="825500"/>
            <a:ext cx="2539365" cy="0"/>
          </a:xfrm>
          <a:prstGeom prst="line">
            <a:avLst/>
          </a:prstGeom>
          <a:noFill/>
          <a:ln w="25400">
            <a:solidFill>
              <a:srgbClr val="FF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079500"/>
            <a:ext cx="10157460" cy="508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 w="25400">
            <a:solidFill>
              <a:srgbClr val="FF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IMAGEN: 12-ventana-se-cierra.png]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2159000"/>
            <a:ext cx="10157460" cy="127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200" b="1" i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no es una presentación de noticias.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i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una llamada a la acción.</a:t>
            </a:r>
            <a:endParaRPr lang="en-US" sz="4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1015746" y="1587500"/>
            <a:ext cx="2539365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u="none" dirty="0">
                <a:solidFill>
                  <a:srgbClr val="8C2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PATRÓN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5746" y="2032000"/>
            <a:ext cx="7618095" cy="152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Recursividad</a:t>
            </a:r>
            <a:endParaRPr lang="en-US" sz="7200" dirty="0"/>
          </a:p>
          <a:p>
            <a:pPr algn="l" indent="0" marL="0">
              <a:buNone/>
            </a:pPr>
            <a:r>
              <a:rPr lang="en-US" sz="7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Agéntica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015746" y="3746500"/>
            <a:ext cx="507873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mecanismo detrás de la Intelligence Explosion.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15746" y="3619500"/>
            <a:ext cx="1904524" cy="0"/>
          </a:xfrm>
          <a:prstGeom prst="line">
            <a:avLst/>
          </a:prstGeom>
          <a:noFill/>
          <a:ln w="25400">
            <a:solidFill>
              <a:srgbClr val="8C27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87778" y="1270000"/>
            <a:ext cx="1904524" cy="1905000"/>
          </a:xfrm>
          <a:prstGeom prst="ellipse">
            <a:avLst/>
          </a:prstGeom>
          <a:solidFill>
            <a:srgbClr val="8C27F1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69683" y="1270000"/>
            <a:ext cx="9649587" cy="3175000"/>
          </a:xfrm>
          <a:prstGeom prst="roundRect">
            <a:avLst>
              <a:gd name="adj" fmla="val 3999"/>
            </a:avLst>
          </a:prstGeom>
          <a:solidFill>
            <a:srgbClr val="111111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50587" y="1524000"/>
            <a:ext cx="1904524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650587" y="1968500"/>
            <a:ext cx="8887778" cy="177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u="none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capacidad de un agente de IA en un sistema cerrado para utilizar el resultado de su propia ejecución como input para la siguiente iteración, sin intervención humana.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650587" y="1778000"/>
            <a:ext cx="1269683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81000"/>
            <a:ext cx="1904524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1810" y="635000"/>
            <a:ext cx="5713571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Velocidad del Silicio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61810" y="1143000"/>
            <a:ext cx="1269683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1810" y="1397000"/>
            <a:ext cx="5713571" cy="2222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minutos para un humano.</a:t>
            </a:r>
            <a:endParaRPr lang="en-US" sz="2600" dirty="0"/>
          </a:p>
          <a:p>
            <a:pPr algn="l" indent="0" marL="0">
              <a:buNone/>
            </a:pPr>
            <a:r>
              <a:rPr lang="en-US" sz="26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Millisegundos para el agente.</a:t>
            </a:r>
            <a:endParaRPr lang="en-US" sz="2600" dirty="0"/>
          </a:p>
          <a:p>
            <a:pPr algn="l" indent="0" marL="0">
              <a:buNone/>
            </a:pPr>
            <a:endParaRPr lang="en-US" sz="2600" dirty="0"/>
          </a:p>
          <a:p>
            <a:pPr algn="l" indent="0" marL="0">
              <a:buNone/>
            </a:pPr>
            <a:r>
              <a:rPr lang="en-US" sz="26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 dejas de arreglar.</a:t>
            </a:r>
            <a:endParaRPr lang="en-US" sz="2600" dirty="0"/>
          </a:p>
          <a:p>
            <a:pPr algn="l" indent="0" marL="0">
              <a:buNone/>
            </a:pPr>
            <a:r>
              <a:rPr lang="en-US" sz="26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Empiezas a DEFINIR.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6286" y="635000"/>
            <a:ext cx="4570857" cy="5080000"/>
          </a:xfrm>
          <a:prstGeom prst="roundRect">
            <a:avLst>
              <a:gd name="adj" fmla="val 2222"/>
            </a:avLst>
          </a:prstGeom>
          <a:solidFill>
            <a:srgbClr val="1A1A1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6286" y="2857500"/>
            <a:ext cx="4570857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1]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81000"/>
            <a:ext cx="1904524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u="none" dirty="0">
                <a:solidFill>
                  <a:srgbClr val="8C2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1810" y="635000"/>
            <a:ext cx="5713571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Iteración Convergente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61810" y="1143000"/>
            <a:ext cx="1269683" cy="0"/>
          </a:xfrm>
          <a:prstGeom prst="line">
            <a:avLst/>
          </a:prstGeom>
          <a:noFill/>
          <a:ln w="25400">
            <a:solidFill>
              <a:srgbClr val="8C27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1810" y="1397000"/>
            <a:ext cx="5713571" cy="241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pregunta deja de ser</a:t>
            </a:r>
            <a:endParaRPr lang="en-US" sz="2600" dirty="0"/>
          </a:p>
          <a:p>
            <a:pPr algn="l" indent="0" marL="0">
              <a:buNone/>
            </a:pPr>
            <a:r>
              <a:rPr lang="en-US" sz="26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'¿es posible?'</a:t>
            </a:r>
            <a:endParaRPr lang="en-US" sz="2600" dirty="0"/>
          </a:p>
          <a:p>
            <a:pPr algn="l" indent="0" marL="0">
              <a:buNone/>
            </a:pPr>
            <a:r>
              <a:rPr lang="en-US" sz="26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se convierte en</a:t>
            </a:r>
            <a:endParaRPr lang="en-US" sz="2600" dirty="0"/>
          </a:p>
          <a:p>
            <a:pPr algn="l" indent="0" marL="0">
              <a:buNone/>
            </a:pPr>
            <a:r>
              <a:rPr lang="en-US" sz="26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'¿cuándo?'</a:t>
            </a:r>
            <a:endParaRPr lang="en-US" sz="2600" dirty="0"/>
          </a:p>
          <a:p>
            <a:pPr algn="l" indent="0" marL="0">
              <a:buNone/>
            </a:pPr>
            <a:endParaRPr lang="en-US" sz="2600" dirty="0"/>
          </a:p>
          <a:p>
            <a:pPr algn="l" indent="0" marL="0">
              <a:buNone/>
            </a:pPr>
            <a:r>
              <a:rPr lang="en-US" sz="26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Inevitabilidad matemática.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6286" y="635000"/>
            <a:ext cx="4570857" cy="5080000"/>
          </a:xfrm>
          <a:prstGeom prst="roundRect">
            <a:avLst>
              <a:gd name="adj" fmla="val 2222"/>
            </a:avLst>
          </a:prstGeom>
          <a:solidFill>
            <a:srgbClr val="1A1A1A"/>
          </a:solidFill>
          <a:ln w="25400">
            <a:solidFill>
              <a:srgbClr val="8C27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6286" y="2857500"/>
            <a:ext cx="4570857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2]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81000"/>
            <a:ext cx="1904524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1810" y="635000"/>
            <a:ext cx="5713571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Antifragilidad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61810" y="1143000"/>
            <a:ext cx="1269683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1810" y="1397000"/>
            <a:ext cx="5713571" cy="2222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error alimenta la</a:t>
            </a:r>
            <a:endParaRPr lang="en-US" sz="2600" dirty="0"/>
          </a:p>
          <a:p>
            <a:pPr algn="l" indent="0" marL="0">
              <a:buNone/>
            </a:pPr>
            <a:r>
              <a:rPr lang="en-US" sz="26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 iteración.</a:t>
            </a:r>
            <a:endParaRPr lang="en-US" sz="2600" dirty="0"/>
          </a:p>
          <a:p>
            <a:pPr algn="l" indent="0" marL="0">
              <a:buNone/>
            </a:pPr>
            <a:endParaRPr lang="en-US" sz="2600" dirty="0"/>
          </a:p>
          <a:p>
            <a:pPr algn="l" indent="0" marL="0">
              <a:buNone/>
            </a:pPr>
            <a:r>
              <a:rPr lang="en-US" sz="26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se FORTALECE</a:t>
            </a:r>
            <a:endParaRPr lang="en-US" sz="2600" dirty="0"/>
          </a:p>
          <a:p>
            <a:pPr algn="l" indent="0" marL="0">
              <a:buNone/>
            </a:pPr>
            <a:r>
              <a:rPr lang="en-US" sz="26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caos.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6286" y="635000"/>
            <a:ext cx="4570857" cy="5080000"/>
          </a:xfrm>
          <a:prstGeom prst="roundRect">
            <a:avLst>
              <a:gd name="adj" fmla="val 2222"/>
            </a:avLst>
          </a:prstGeom>
          <a:solidFill>
            <a:srgbClr val="1A1A1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6286" y="2857500"/>
            <a:ext cx="4570857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3]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381000"/>
            <a:ext cx="3809048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u="none" dirty="0">
                <a:solidFill>
                  <a:srgbClr val="FF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 DEL 99%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5746" y="698500"/>
            <a:ext cx="6348413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6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prompt para TODO.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1015746" y="1270000"/>
            <a:ext cx="1904524" cy="0"/>
          </a:xfrm>
          <a:prstGeom prst="line">
            <a:avLst/>
          </a:prstGeom>
          <a:noFill/>
          <a:ln w="25400">
            <a:solidFill>
              <a:srgbClr val="FF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5746" y="1651000"/>
            <a:ext cx="3301175" cy="1778000"/>
          </a:xfrm>
          <a:prstGeom prst="roundRect">
            <a:avLst>
              <a:gd name="adj" fmla="val 5713"/>
            </a:avLst>
          </a:prstGeom>
          <a:solidFill>
            <a:srgbClr val="111111"/>
          </a:solidFill>
          <a:ln w="25400">
            <a:solidFill>
              <a:srgbClr val="00CC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9683" y="1905000"/>
            <a:ext cx="2793302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"Cambia el color"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69683" y="2413000"/>
            <a:ext cx="2793302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u="none" dirty="0">
                <a:solidFill>
                  <a:srgbClr val="00C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Perfecto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443889" y="1651000"/>
            <a:ext cx="3301175" cy="1778000"/>
          </a:xfrm>
          <a:prstGeom prst="roundRect">
            <a:avLst>
              <a:gd name="adj" fmla="val 5713"/>
            </a:avLst>
          </a:prstGeom>
          <a:solidFill>
            <a:srgbClr val="111111"/>
          </a:solidFill>
          <a:ln w="25400">
            <a:solidFill>
              <a:srgbClr val="FFB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7825" y="1905000"/>
            <a:ext cx="2793302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"Hazme un formulario"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97825" y="2413000"/>
            <a:ext cx="2793302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u="none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veces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7872032" y="1651000"/>
            <a:ext cx="3301175" cy="1778000"/>
          </a:xfrm>
          <a:prstGeom prst="roundRect">
            <a:avLst>
              <a:gd name="adj" fmla="val 5713"/>
            </a:avLst>
          </a:prstGeom>
          <a:solidFill>
            <a:srgbClr val="111111"/>
          </a:solidFill>
          <a:ln w="25400">
            <a:solidFill>
              <a:srgbClr val="FF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5968" y="1905000"/>
            <a:ext cx="2793302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"Sistema de pagos"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125968" y="2413000"/>
            <a:ext cx="2793302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u="none" dirty="0">
                <a:solidFill>
                  <a:srgbClr val="FF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Explota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1015746" y="3937000"/>
            <a:ext cx="10157460" cy="101600"/>
          </a:xfrm>
          <a:prstGeom prst="roundRect">
            <a:avLst>
              <a:gd name="adj" fmla="val 49988"/>
            </a:avLst>
          </a:prstGeom>
          <a:solidFill>
            <a:srgbClr val="1A1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5746" y="3937000"/>
            <a:ext cx="10157460" cy="101600"/>
          </a:xfrm>
          <a:prstGeom prst="roundRect">
            <a:avLst>
              <a:gd name="adj" fmla="val 49988"/>
            </a:avLst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1015746" y="4114800"/>
            <a:ext cx="10157460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u="none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COMPLEJIDAD →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1905000"/>
            <a:ext cx="101574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6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planificas lo que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entiendes.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650587" y="3302000"/>
            <a:ext cx="8887778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Mapeas JUSTO antes de ejecutar.</a:t>
            </a:r>
            <a:endParaRPr lang="en-US" sz="3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81000"/>
            <a:ext cx="3809048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BUCLE AGÉNTICO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1810" y="635000"/>
            <a:ext cx="5713571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Bucle Agéntico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61810" y="1143000"/>
            <a:ext cx="1269683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1810" y="1397000"/>
            <a:ext cx="5713571" cy="190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generas subtareas.</a:t>
            </a:r>
            <a:endParaRPr lang="en-US" sz="2600" dirty="0"/>
          </a:p>
          <a:p>
            <a:pPr algn="l" indent="0" marL="0">
              <a:buNone/>
            </a:pPr>
            <a:r>
              <a:rPr lang="en-US" sz="26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Generas FASES.</a:t>
            </a:r>
            <a:endParaRPr lang="en-US" sz="2600" dirty="0"/>
          </a:p>
          <a:p>
            <a:pPr algn="l" indent="0" marL="0">
              <a:buNone/>
            </a:pPr>
            <a:endParaRPr lang="en-US" sz="2600" dirty="0"/>
          </a:p>
          <a:p>
            <a:pPr algn="l" indent="0" marL="0">
              <a:buNone/>
            </a:pPr>
            <a:r>
              <a:rPr lang="en-US" sz="26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entrar a cada fase,</a:t>
            </a:r>
            <a:endParaRPr lang="en-US" sz="2600" dirty="0"/>
          </a:p>
          <a:p>
            <a:pPr algn="l" indent="0" marL="0">
              <a:buNone/>
            </a:pPr>
            <a:r>
              <a:rPr lang="en-US" sz="26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mapeas contexto real.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61810" y="3556000"/>
            <a:ext cx="5713571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i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que recalcula en cada esquina.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6286" y="635000"/>
            <a:ext cx="4570857" cy="5080000"/>
          </a:xfrm>
          <a:prstGeom prst="roundRect">
            <a:avLst>
              <a:gd name="adj" fmla="val 2222"/>
            </a:avLst>
          </a:prstGeom>
          <a:solidFill>
            <a:srgbClr val="1A1A1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6286" y="2857500"/>
            <a:ext cx="4570857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Karpathy]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317500"/>
            <a:ext cx="10157460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Pasos por Fase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4824794" y="825500"/>
            <a:ext cx="253936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4289" y="1397000"/>
            <a:ext cx="761810" cy="762000"/>
          </a:xfrm>
          <a:prstGeom prst="ellipse">
            <a:avLst/>
          </a:prstGeom>
          <a:solidFill>
            <a:srgbClr val="111111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44289" y="1555750"/>
            <a:ext cx="761810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52262" y="2286000"/>
            <a:ext cx="1333167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u="none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DELIMITAR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75781" y="1397000"/>
            <a:ext cx="761810" cy="762000"/>
          </a:xfrm>
          <a:prstGeom prst="ellipse">
            <a:avLst/>
          </a:prstGeom>
          <a:solidFill>
            <a:srgbClr val="111111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75781" y="1555750"/>
            <a:ext cx="761810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983754" y="2286000"/>
            <a:ext cx="1333167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u="none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07273" y="1397000"/>
            <a:ext cx="761810" cy="762000"/>
          </a:xfrm>
          <a:prstGeom prst="ellipse">
            <a:avLst/>
          </a:prstGeom>
          <a:solidFill>
            <a:srgbClr val="111111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7273" y="1555750"/>
            <a:ext cx="761810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015246" y="2286000"/>
            <a:ext cx="1333167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u="none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38765" y="1397000"/>
            <a:ext cx="761810" cy="762000"/>
          </a:xfrm>
          <a:prstGeom prst="ellipse">
            <a:avLst/>
          </a:prstGeom>
          <a:solidFill>
            <a:srgbClr val="111111"/>
          </a:solidFill>
          <a:ln w="38100">
            <a:solidFill>
              <a:srgbClr val="8C27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8765" y="1555750"/>
            <a:ext cx="761810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b="1" u="none" dirty="0">
                <a:solidFill>
                  <a:srgbClr val="8C2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983254" y="2286000"/>
            <a:ext cx="1460135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u="none" dirty="0">
                <a:solidFill>
                  <a:srgbClr val="8C2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AUTO-BLINDAJE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27643" y="2508250"/>
            <a:ext cx="571357" cy="152400"/>
          </a:xfrm>
          <a:prstGeom prst="roundRect">
            <a:avLst>
              <a:gd name="adj" fmla="val 49988"/>
            </a:avLst>
          </a:prstGeom>
          <a:solidFill>
            <a:srgbClr val="8C27F1"/>
          </a:solidFill>
          <a:ln/>
        </p:spPr>
      </p:sp>
      <p:sp>
        <p:nvSpPr>
          <p:cNvPr id="17" name="Text 15"/>
          <p:cNvSpPr/>
          <p:nvPr/>
        </p:nvSpPr>
        <p:spPr>
          <a:xfrm>
            <a:off x="7427643" y="2520950"/>
            <a:ext cx="571357" cy="12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370257" y="1397000"/>
            <a:ext cx="761810" cy="762000"/>
          </a:xfrm>
          <a:prstGeom prst="ellipse">
            <a:avLst/>
          </a:prstGeom>
          <a:solidFill>
            <a:srgbClr val="111111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0257" y="1555750"/>
            <a:ext cx="761810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078230" y="2286000"/>
            <a:ext cx="1333167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u="none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006098" y="1778000"/>
            <a:ext cx="7364159" cy="0"/>
          </a:xfrm>
          <a:prstGeom prst="line">
            <a:avLst/>
          </a:prstGeom>
          <a:noFill/>
          <a:ln w="12700">
            <a:solidFill>
              <a:srgbClr val="F69F02"/>
            </a:solidFill>
            <a:prstDash val="dash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317500"/>
            <a:ext cx="6348413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AUTORESEARCH — PATRÓN KARPATHY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5746" y="539750"/>
            <a:ext cx="5078730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u="none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60,000 stars. Yo lo implementé en mi negocio.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5746" y="1143000"/>
            <a:ext cx="1777556" cy="508000"/>
          </a:xfrm>
          <a:prstGeom prst="roundRect">
            <a:avLst>
              <a:gd name="adj" fmla="val 14996"/>
            </a:avLst>
          </a:prstGeom>
          <a:solidFill>
            <a:srgbClr val="111111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1270000"/>
            <a:ext cx="1777556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174206" y="1143000"/>
            <a:ext cx="1777556" cy="508000"/>
          </a:xfrm>
          <a:prstGeom prst="roundRect">
            <a:avLst>
              <a:gd name="adj" fmla="val 14996"/>
            </a:avLst>
          </a:prstGeom>
          <a:solidFill>
            <a:srgbClr val="111111"/>
          </a:solidFill>
          <a:ln w="12700">
            <a:solidFill>
              <a:srgbClr val="8C27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74206" y="1270000"/>
            <a:ext cx="1777556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u="none" dirty="0">
                <a:solidFill>
                  <a:srgbClr val="8C2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332667" y="1143000"/>
            <a:ext cx="1777556" cy="508000"/>
          </a:xfrm>
          <a:prstGeom prst="roundRect">
            <a:avLst>
              <a:gd name="adj" fmla="val 14996"/>
            </a:avLst>
          </a:prstGeom>
          <a:solidFill>
            <a:srgbClr val="111111"/>
          </a:solidFill>
          <a:ln w="12700">
            <a:solidFill>
              <a:srgbClr val="F69F0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32667" y="1270000"/>
            <a:ext cx="1777556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491127" y="1143000"/>
            <a:ext cx="1777556" cy="508000"/>
          </a:xfrm>
          <a:prstGeom prst="roundRect">
            <a:avLst>
              <a:gd name="adj" fmla="val 14996"/>
            </a:avLst>
          </a:prstGeom>
          <a:solidFill>
            <a:srgbClr val="111111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1127" y="1270000"/>
            <a:ext cx="1777556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u="none" dirty="0">
                <a:solidFill>
                  <a:srgbClr val="00C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/ DISCARD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649587" y="1143000"/>
            <a:ext cx="1523619" cy="508000"/>
          </a:xfrm>
          <a:prstGeom prst="roundRect">
            <a:avLst>
              <a:gd name="adj" fmla="val 14996"/>
            </a:avLst>
          </a:prstGeom>
          <a:solidFill>
            <a:srgbClr val="111111"/>
          </a:solidFill>
          <a:ln w="12700">
            <a:solidFill>
              <a:srgbClr val="F69F0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49587" y="1270000"/>
            <a:ext cx="1523619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793302" y="1397000"/>
            <a:ext cx="38090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51762" y="1397000"/>
            <a:ext cx="38090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10222" y="1397000"/>
            <a:ext cx="38090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68682" y="1397000"/>
            <a:ext cx="38090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55111" y="2540000"/>
            <a:ext cx="5078730" cy="3175000"/>
          </a:xfrm>
          <a:prstGeom prst="ellipse">
            <a:avLst/>
          </a:prstGeom>
          <a:solidFill>
            <a:srgbClr val="111111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89952" y="3492500"/>
            <a:ext cx="3809048" cy="127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NOCHE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agentes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mejoran SOLOS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015746" y="5969000"/>
            <a:ext cx="5078730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u="none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$1.50 por agente. 30 iteraciones.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317500"/>
            <a:ext cx="10157460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no es teoría. Es mi producción.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89952" y="825500"/>
            <a:ext cx="3809048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270000"/>
            <a:ext cx="3301175" cy="1524000"/>
          </a:xfrm>
          <a:prstGeom prst="roundRect">
            <a:avLst>
              <a:gd name="adj" fmla="val 6665"/>
            </a:avLst>
          </a:prstGeom>
          <a:solidFill>
            <a:srgbClr val="111111"/>
          </a:solidFill>
          <a:ln w="127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9683" y="1460500"/>
            <a:ext cx="634841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69683" y="1968500"/>
            <a:ext cx="2793302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Python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443889" y="1270000"/>
            <a:ext cx="3301175" cy="1524000"/>
          </a:xfrm>
          <a:prstGeom prst="roundRect">
            <a:avLst>
              <a:gd name="adj" fmla="val 6665"/>
            </a:avLst>
          </a:prstGeom>
          <a:solidFill>
            <a:srgbClr val="111111"/>
          </a:solidFill>
          <a:ln w="12700">
            <a:solidFill>
              <a:srgbClr val="8C27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7825" y="1460500"/>
            <a:ext cx="634841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u="none" dirty="0">
                <a:solidFill>
                  <a:srgbClr val="8C2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697825" y="1968500"/>
            <a:ext cx="2793302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ML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872032" y="1270000"/>
            <a:ext cx="3301175" cy="1524000"/>
          </a:xfrm>
          <a:prstGeom prst="roundRect">
            <a:avLst>
              <a:gd name="adj" fmla="val 6665"/>
            </a:avLst>
          </a:prstGeom>
          <a:solidFill>
            <a:srgbClr val="111111"/>
          </a:solidFill>
          <a:ln w="12700">
            <a:solidFill>
              <a:srgbClr val="F69F0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5968" y="1460500"/>
            <a:ext cx="634841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125968" y="1968500"/>
            <a:ext cx="2793302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auto-optimizándose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15746" y="3048000"/>
            <a:ext cx="3301175" cy="1524000"/>
          </a:xfrm>
          <a:prstGeom prst="roundRect">
            <a:avLst>
              <a:gd name="adj" fmla="val 6665"/>
            </a:avLst>
          </a:prstGeom>
          <a:solidFill>
            <a:srgbClr val="111111"/>
          </a:solidFill>
          <a:ln w="12700">
            <a:solidFill>
              <a:srgbClr val="8C27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9683" y="3238500"/>
            <a:ext cx="761810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u="none" dirty="0">
                <a:solidFill>
                  <a:srgbClr val="8C2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269683" y="3746500"/>
            <a:ext cx="2793302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Canales monitoreados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443889" y="3048000"/>
            <a:ext cx="3301175" cy="1524000"/>
          </a:xfrm>
          <a:prstGeom prst="roundRect">
            <a:avLst>
              <a:gd name="adj" fmla="val 6665"/>
            </a:avLst>
          </a:prstGeom>
          <a:solidFill>
            <a:srgbClr val="111111"/>
          </a:solidFill>
          <a:ln w="12700">
            <a:solidFill>
              <a:srgbClr val="F69F0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7825" y="3238500"/>
            <a:ext cx="761810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697825" y="3746500"/>
            <a:ext cx="2793302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jobs 24/7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872032" y="3048000"/>
            <a:ext cx="3301175" cy="1524000"/>
          </a:xfrm>
          <a:prstGeom prst="roundRect">
            <a:avLst>
              <a:gd name="adj" fmla="val 6665"/>
            </a:avLst>
          </a:prstGeom>
          <a:solidFill>
            <a:srgbClr val="111111"/>
          </a:solidFill>
          <a:ln w="38100">
            <a:solidFill>
              <a:srgbClr val="F69F0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5968" y="3238500"/>
            <a:ext cx="1269683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$5-7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8125968" y="3746500"/>
            <a:ext cx="2793302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/ noche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1905000"/>
            <a:ext cx="10157460" cy="101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Intelligence Explosion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algo que viene.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650587" y="3175000"/>
            <a:ext cx="8887778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i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changelog de Anthropic de Marzo.</a:t>
            </a:r>
            <a:endParaRPr lang="en-US" sz="3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2032000"/>
            <a:ext cx="10157460" cy="152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2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yo la uso cada noche</a:t>
            </a:r>
            <a:endParaRPr lang="en-US" sz="7200" dirty="0"/>
          </a:p>
          <a:p>
            <a:pPr algn="ctr" indent="0" marL="0">
              <a:buNone/>
            </a:pPr>
            <a:r>
              <a:rPr lang="en-US" sz="72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$5.</a:t>
            </a:r>
            <a:endParaRPr lang="en-US" sz="7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317500"/>
            <a:ext cx="5078730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Megaprompt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15746" y="825500"/>
            <a:ext cx="507873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 les enseñé cabe en UN prompt.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34841" y="1397000"/>
            <a:ext cx="5459635" cy="4318000"/>
          </a:xfrm>
          <a:prstGeom prst="roundRect">
            <a:avLst>
              <a:gd name="adj" fmla="val 1764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4841" y="1397000"/>
            <a:ext cx="5459635" cy="203200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825294" y="1714500"/>
            <a:ext cx="5078730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u="none" dirty="0">
                <a:solidFill>
                  <a:srgbClr val="F69F02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# PROTOCOLO DE CONTEXTO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5294" y="1905000"/>
            <a:ext cx="5078730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u="none" dirty="0">
                <a:solidFill>
                  <a:srgbClr val="BBBBBB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investigar → mapear → delimitar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5294" y="2159000"/>
            <a:ext cx="5078730" cy="6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5294" y="2286000"/>
            <a:ext cx="5078730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u="none" dirty="0">
                <a:solidFill>
                  <a:srgbClr val="FFB800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# AUTO-BLINDAJE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5294" y="2476500"/>
            <a:ext cx="5078730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u="none" dirty="0">
                <a:solidFill>
                  <a:srgbClr val="BBBBBB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verificar → rollback → loop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5294" y="2730500"/>
            <a:ext cx="5078730" cy="6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5294" y="2857500"/>
            <a:ext cx="5078730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u="none" dirty="0">
                <a:solidFill>
                  <a:srgbClr val="00CC66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# FASES DE EJECUCIÓN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5294" y="3048000"/>
            <a:ext cx="5078730" cy="101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u="none" dirty="0">
                <a:solidFill>
                  <a:srgbClr val="BBBBBB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fase_1: scaffold</a:t>
            </a:r>
            <a:endParaRPr lang="en-US" sz="1500" dirty="0"/>
          </a:p>
          <a:p>
            <a:pPr algn="l" indent="0" marL="0">
              <a:buNone/>
            </a:pPr>
            <a:r>
              <a:rPr lang="en-US" sz="1500" u="none" dirty="0">
                <a:solidFill>
                  <a:srgbClr val="BBBBBB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fase_2: core_logic</a:t>
            </a:r>
            <a:endParaRPr lang="en-US" sz="1500" dirty="0"/>
          </a:p>
          <a:p>
            <a:pPr algn="l" indent="0" marL="0">
              <a:buNone/>
            </a:pPr>
            <a:r>
              <a:rPr lang="en-US" sz="1500" u="none" dirty="0">
                <a:solidFill>
                  <a:srgbClr val="BBBBBB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fase_3: integration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u="none" dirty="0">
                <a:solidFill>
                  <a:srgbClr val="BBBBBB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fase_4: testing</a:t>
            </a:r>
            <a:endParaRPr lang="en-US" sz="1500" dirty="0"/>
          </a:p>
          <a:p>
            <a:pPr algn="l" indent="0" marL="0">
              <a:buNone/>
            </a:pPr>
            <a:r>
              <a:rPr lang="en-US" sz="1500" u="none" dirty="0">
                <a:solidFill>
                  <a:srgbClr val="BBBBBB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fase_5: deploy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602349" y="1397000"/>
            <a:ext cx="4951762" cy="4318000"/>
          </a:xfrm>
          <a:prstGeom prst="roundRect">
            <a:avLst>
              <a:gd name="adj" fmla="val 2352"/>
            </a:avLst>
          </a:prstGeom>
          <a:solidFill>
            <a:srgbClr val="111111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2349" y="2794000"/>
            <a:ext cx="4951762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[QR CODE]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602349" y="3302000"/>
            <a:ext cx="4951762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Escanea → Descarga el Megaprompt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17500"/>
            <a:ext cx="10665333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asimetría se amplía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824794" y="825500"/>
            <a:ext cx="253936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079500"/>
            <a:ext cx="10157460" cy="508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IMAGEN: asimetría vibe coder vs arquitecto]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1778000"/>
            <a:ext cx="10157460" cy="190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herramienta que les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enseñé hoy se multiplica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cada modelo nuevo.</a:t>
            </a:r>
            <a:endParaRPr lang="en-US" sz="4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1524000"/>
            <a:ext cx="10157460" cy="25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que construyan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semana será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exponencialmente más poderoso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4 meses.</a:t>
            </a:r>
            <a:endParaRPr lang="en-US" sz="4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1651000"/>
            <a:ext cx="10157460" cy="127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vibe coding sin infraestructura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hobby caro.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650587" y="3238500"/>
            <a:ext cx="8887778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i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es la mesa. Claude Code es el agente.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i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Factory es la fábrica.</a:t>
            </a:r>
            <a:endParaRPr lang="en-US" sz="2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2159000"/>
            <a:ext cx="1015746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6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@danielcarreong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2285429" y="2794000"/>
            <a:ext cx="7618095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saasfactory.so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920270" y="3238500"/>
            <a:ext cx="6348413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u="none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700+ Arquitectos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09048" y="2032000"/>
            <a:ext cx="4570857" cy="0"/>
          </a:xfrm>
          <a:prstGeom prst="line">
            <a:avLst/>
          </a:prstGeom>
          <a:noFill/>
          <a:ln w="12700">
            <a:solidFill>
              <a:srgbClr val="F69F0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09048" y="3683000"/>
            <a:ext cx="4570857" cy="0"/>
          </a:xfrm>
          <a:prstGeom prst="line">
            <a:avLst/>
          </a:prstGeom>
          <a:noFill/>
          <a:ln w="12700">
            <a:solidFill>
              <a:srgbClr val="F69F02"/>
            </a:solidFill>
            <a:prstDash val="solid"/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1015746" y="2032000"/>
            <a:ext cx="10157460" cy="127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Soy Daniel Carreon.</a:t>
            </a:r>
            <a:endParaRPr lang="en-US" sz="6400" dirty="0"/>
          </a:p>
          <a:p>
            <a:pPr algn="ctr" indent="0" marL="0">
              <a:buNone/>
            </a:pPr>
            <a:r>
              <a:rPr lang="en-US" sz="6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920270" y="3556000"/>
            <a:ext cx="6348413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u="none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Land 2026 | Developer Land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69683" y="317500"/>
            <a:ext cx="952262" cy="952500"/>
          </a:xfrm>
          <a:prstGeom prst="ellipse">
            <a:avLst/>
          </a:prstGeom>
          <a:solidFill>
            <a:srgbClr val="F69F02"/>
          </a:solidFill>
          <a:ln/>
        </p:spPr>
      </p:sp>
      <p:sp>
        <p:nvSpPr>
          <p:cNvPr id="6" name="Shape 4"/>
          <p:cNvSpPr/>
          <p:nvPr/>
        </p:nvSpPr>
        <p:spPr>
          <a:xfrm>
            <a:off x="9522619" y="635000"/>
            <a:ext cx="1269683" cy="1270000"/>
          </a:xfrm>
          <a:prstGeom prst="ellipse">
            <a:avLst/>
          </a:prstGeom>
          <a:solidFill>
            <a:srgbClr val="8C27F1"/>
          </a:solidFill>
          <a:ln/>
        </p:spPr>
      </p:sp>
      <p:sp>
        <p:nvSpPr>
          <p:cNvPr id="7" name="Shape 5"/>
          <p:cNvSpPr/>
          <p:nvPr/>
        </p:nvSpPr>
        <p:spPr>
          <a:xfrm>
            <a:off x="5078730" y="5080000"/>
            <a:ext cx="1142714" cy="1143000"/>
          </a:xfrm>
          <a:prstGeom prst="ellipse">
            <a:avLst/>
          </a:prstGeom>
          <a:solidFill>
            <a:srgbClr val="F69F02"/>
          </a:solidFill>
          <a:ln/>
        </p:spPr>
      </p:sp>
      <p:sp>
        <p:nvSpPr>
          <p:cNvPr id="8" name="Shape 6"/>
          <p:cNvSpPr/>
          <p:nvPr/>
        </p:nvSpPr>
        <p:spPr>
          <a:xfrm>
            <a:off x="4189952" y="3429000"/>
            <a:ext cx="3809048" cy="0"/>
          </a:xfrm>
          <a:prstGeom prst="line">
            <a:avLst/>
          </a:prstGeom>
          <a:noFill/>
          <a:ln w="12700">
            <a:solidFill>
              <a:srgbClr val="F69F0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Recursividad Agéntica</dc:title>
  <dc:subject>PptxGenJS Presentation</dc:subject>
  <dc:creator>Daniel Carreon</dc:creator>
  <cp:lastModifiedBy>Daniel Carreon</cp:lastModifiedBy>
  <cp:revision>1</cp:revision>
  <dcterms:created xsi:type="dcterms:W3CDTF">2026-04-01T23:37:10Z</dcterms:created>
  <dcterms:modified xsi:type="dcterms:W3CDTF">2026-04-01T23:37:10Z</dcterms:modified>
</cp:coreProperties>
</file>