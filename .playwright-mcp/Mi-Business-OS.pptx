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Presentarte. Mi Business OS = superinteligencia aplicada a negocios. Talent Land 2026, Business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Quién eres. Background técnico. SaaS Factory. 700+ miembros. Sin publicidad, sin equipo, solo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$72K+ en menos de 5 meses. 700+ miembros, 66 videos, $0 en ads. Dejar que los números hablen.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sistema. $5/noche. 24/7. Dejar que sink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Transición. Crear contexto antes de mostrar el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 para la sección de METR/AI.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METR. Contexto: la IA se duplica cada pocos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Gráfica METR: Time Horizon. Cuánto puede trabajar un agente autónomamente.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Doubling cada 4 meses. Se acelera.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plateau. Sigue acelerándose.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Extrapolación: 2027 = 1 día, 2028 = 1 semana, 2029 = 1 mes de trabajo autónomo.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Progresión: 30 seg → min → 14 HORAS. Opus 4.6. Esto es lo que uso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Jensen Huang, CEO NVIDIA. AGI ya llegó. No es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Mythos filtrado. La siguiente generación de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modelo nuevo amplifica el sistema sin esfuerzo adicional.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al bloque de negocio. 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Sección negocio. SaaS Factory Community. YouTube como único canal de adquisición.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completo: Video → Landing → Checkout → Miembros → Agentes.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YouTube → Landing → Checkout → Miembros → Agentes IA. Los datos alimentan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por fuera. La magia está en lo que no se 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datos → un sistema con acceso total a las variables del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Reveal: Business OS. Pausa dramática.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componentes del Business OS: CLAUDE.md, Skills, Memoria, Cron Jobs,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= el cerebro. 1,300 líneas. Define identidad, stack, reglas de negocio. El agente sabe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Máquina Nocturna. Todo sucede mientras duermo. $5-7/noche.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segundos al despertar. Todo el contexto del negocio al instante.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aplicaciones de ML: predecir churn, recomendar contenido, auto-mejorar agentes.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Crear tensión antes del dato de churn.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silencioso. 2.9% cancelan vs 10.7% se quedan activos. Los que se van desaparecen sin aviso.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Detección temprana + acción automática. Sin intervención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Views ≠ ventas. El modelo ML descubrió qué tipo de contenido realmente convierte.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Flywheel: YouTube → Pagos → Miembros → Agentes → ML → Mejores Videos. Compound interest.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nuevo modelo amplifica todo el sistema. Zero effort compound.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de hoy = el más débil del futuro. Todo mejora desde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Urgencia. 18-24 meses de ventaja para quienes actúen ahora.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Paralelos, no secuenciales. Reacción en cadena de mejora.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 Hormozi: Trabajo = Volumen × Apalancamiento. La IA es apalancamiento infinito.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más horas. Mismo tiempo, 1000x más apalancamiento.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to action. No si, sino cuándo. Pausa.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Regalo: CLAUDE.md original. QR para descargar. CTA fuerte.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Redes. Follow en X/Twitter. saasfactory.so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al título. Ya no es futuro. Es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final. Gracias. Pausa. Aplausos.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1015746" y="762000"/>
            <a:ext cx="5078730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LAND | TALENT LAND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5746" y="1651000"/>
            <a:ext cx="5713571" cy="12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Business OS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015746" y="3048000"/>
            <a:ext cx="5078730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i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Superinteligencia aplicada a negocios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15746" y="3619500"/>
            <a:ext cx="1904524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5746" y="3810000"/>
            <a:ext cx="19045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Carreon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5746" y="4032250"/>
            <a:ext cx="2539365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Factory Community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83254" y="635000"/>
            <a:ext cx="4443889" cy="4445000"/>
          </a:xfrm>
          <a:prstGeom prst="ellipse">
            <a:avLst/>
          </a:prstGeom>
          <a:ln w="12700">
            <a:solidFill>
              <a:srgbClr val="F69F0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27643" y="1079500"/>
            <a:ext cx="3555111" cy="3556000"/>
          </a:xfrm>
          <a:prstGeom prst="ellipse">
            <a:avLst/>
          </a:prstGeom>
          <a:ln w="12700">
            <a:solidFill>
              <a:srgbClr val="8C27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72032" y="1524000"/>
            <a:ext cx="2666333" cy="2667000"/>
          </a:xfrm>
          <a:prstGeom prst="ellipse">
            <a:avLst/>
          </a:prstGeom>
          <a:ln w="12700">
            <a:solidFill>
              <a:srgbClr val="F69F0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16420" y="1968500"/>
            <a:ext cx="1777556" cy="1778000"/>
          </a:xfrm>
          <a:prstGeom prst="ellipse">
            <a:avLst/>
          </a:prstGeom>
          <a:ln w="12700">
            <a:solidFill>
              <a:srgbClr val="8C27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78230" y="952500"/>
            <a:ext cx="76181" cy="76200"/>
          </a:xfrm>
          <a:prstGeom prst="ellipse">
            <a:avLst/>
          </a:prstGeom>
          <a:solidFill>
            <a:srgbClr val="F69F02"/>
          </a:solidFill>
          <a:ln/>
        </p:spPr>
      </p:sp>
      <p:sp>
        <p:nvSpPr>
          <p:cNvPr id="14" name="Shape 12"/>
          <p:cNvSpPr/>
          <p:nvPr/>
        </p:nvSpPr>
        <p:spPr>
          <a:xfrm>
            <a:off x="8252936" y="1778000"/>
            <a:ext cx="50787" cy="50800"/>
          </a:xfrm>
          <a:prstGeom prst="ellipse">
            <a:avLst/>
          </a:prstGeom>
          <a:solidFill>
            <a:srgbClr val="8C27F1"/>
          </a:solidFill>
          <a:ln/>
        </p:spPr>
      </p:sp>
      <p:sp>
        <p:nvSpPr>
          <p:cNvPr id="15" name="Shape 13"/>
          <p:cNvSpPr/>
          <p:nvPr/>
        </p:nvSpPr>
        <p:spPr>
          <a:xfrm>
            <a:off x="9840039" y="2540000"/>
            <a:ext cx="63484" cy="63500"/>
          </a:xfrm>
          <a:prstGeom prst="ellipse">
            <a:avLst/>
          </a:prstGeom>
          <a:solidFill>
            <a:srgbClr val="F69F02"/>
          </a:solidFill>
          <a:ln/>
        </p:spPr>
      </p:sp>
      <p:sp>
        <p:nvSpPr>
          <p:cNvPr id="16" name="Shape 14"/>
          <p:cNvSpPr/>
          <p:nvPr/>
        </p:nvSpPr>
        <p:spPr>
          <a:xfrm>
            <a:off x="7618095" y="3175000"/>
            <a:ext cx="88878" cy="88900"/>
          </a:xfrm>
          <a:prstGeom prst="ellipse">
            <a:avLst/>
          </a:prstGeom>
          <a:solidFill>
            <a:srgbClr val="8C27F1"/>
          </a:solidFill>
          <a:ln/>
        </p:spPr>
      </p:sp>
      <p:sp>
        <p:nvSpPr>
          <p:cNvPr id="17" name="Shape 15"/>
          <p:cNvSpPr/>
          <p:nvPr/>
        </p:nvSpPr>
        <p:spPr>
          <a:xfrm>
            <a:off x="9395651" y="3810000"/>
            <a:ext cx="63484" cy="63500"/>
          </a:xfrm>
          <a:prstGeom prst="ellipse">
            <a:avLst/>
          </a:prstGeom>
          <a:solidFill>
            <a:srgbClr val="F69F02"/>
          </a:solidFill>
          <a:ln/>
        </p:spPr>
      </p:sp>
      <p:sp>
        <p:nvSpPr>
          <p:cNvPr id="18" name="Shape 16"/>
          <p:cNvSpPr/>
          <p:nvPr/>
        </p:nvSpPr>
        <p:spPr>
          <a:xfrm>
            <a:off x="2539365" y="254000"/>
            <a:ext cx="634841" cy="635000"/>
          </a:xfrm>
          <a:prstGeom prst="ellipse">
            <a:avLst/>
          </a:prstGeom>
          <a:solidFill>
            <a:srgbClr val="F69F02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6151" y="127000"/>
            <a:ext cx="888778" cy="889000"/>
          </a:xfrm>
          <a:prstGeom prst="ellipse">
            <a:avLst/>
          </a:prstGeom>
          <a:solidFill>
            <a:srgbClr val="F69F0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1015746" y="381000"/>
            <a:ext cx="1904524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5746" y="635000"/>
            <a:ext cx="5078730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Carreon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015746" y="1270000"/>
            <a:ext cx="1269683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5746" y="1524000"/>
            <a:ext cx="4951762" cy="603250"/>
          </a:xfrm>
          <a:prstGeom prst="roundRect">
            <a:avLst>
              <a:gd name="adj" fmla="val 14733"/>
            </a:avLst>
          </a:prstGeom>
          <a:solidFill>
            <a:srgbClr val="111111"/>
          </a:solidFill>
          <a:ln w="12700">
            <a:solidFill>
              <a:srgbClr val="F69F0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8895" y="1663700"/>
            <a:ext cx="4545463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Mecatrónica → Ciencia de Datos → 3 años full time en IA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15746" y="2254250"/>
            <a:ext cx="4951762" cy="603250"/>
          </a:xfrm>
          <a:prstGeom prst="roundRect">
            <a:avLst>
              <a:gd name="adj" fmla="val 14733"/>
            </a:avLst>
          </a:prstGeom>
          <a:solidFill>
            <a:srgbClr val="111111"/>
          </a:solidFill>
          <a:ln w="12700">
            <a:solidFill>
              <a:srgbClr val="8C27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8895" y="2393950"/>
            <a:ext cx="4545463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 de SaaS Factory Community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15746" y="2984500"/>
            <a:ext cx="4951762" cy="603250"/>
          </a:xfrm>
          <a:prstGeom prst="roundRect">
            <a:avLst>
              <a:gd name="adj" fmla="val 14733"/>
            </a:avLst>
          </a:prstGeom>
          <a:solidFill>
            <a:srgbClr val="111111"/>
          </a:solidFill>
          <a:ln w="12700">
            <a:solidFill>
              <a:srgbClr val="F69F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8895" y="3124200"/>
            <a:ext cx="4545463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700+ miembros pagando cada mes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15746" y="3714750"/>
            <a:ext cx="4951762" cy="603250"/>
          </a:xfrm>
          <a:prstGeom prst="roundRect">
            <a:avLst>
              <a:gd name="adj" fmla="val 14733"/>
            </a:avLst>
          </a:prstGeom>
          <a:solidFill>
            <a:srgbClr val="111111"/>
          </a:solidFill>
          <a:ln w="12700">
            <a:solidFill>
              <a:srgbClr val="8C27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8895" y="3854450"/>
            <a:ext cx="4545463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1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publicidad. Cero equipo. Todo con IA.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983254" y="1524000"/>
            <a:ext cx="4189952" cy="2794000"/>
          </a:xfrm>
          <a:prstGeom prst="roundRect">
            <a:avLst>
              <a:gd name="adj" fmla="val 3635"/>
            </a:avLst>
          </a:prstGeom>
          <a:solidFill>
            <a:srgbClr val="2A2A2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3254" y="2698750"/>
            <a:ext cx="4189952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[FOTO SPEAKER]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889000"/>
            <a:ext cx="10157460" cy="12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$72,000+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2285429" y="2222500"/>
            <a:ext cx="7618095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en menos de 5 meses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89952" y="2730500"/>
            <a:ext cx="3809048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5746" y="3111500"/>
            <a:ext cx="3174206" cy="1270000"/>
          </a:xfrm>
          <a:prstGeom prst="roundRect">
            <a:avLst>
              <a:gd name="adj" fmla="val 7998"/>
            </a:avLst>
          </a:prstGeom>
          <a:solidFill>
            <a:srgbClr val="111111"/>
          </a:solidFill>
          <a:ln w="12700">
            <a:solidFill>
              <a:srgbClr val="F69F0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9683" y="3302000"/>
            <a:ext cx="2666333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69683" y="3746500"/>
            <a:ext cx="2666333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miembros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43889" y="3111500"/>
            <a:ext cx="3174206" cy="1270000"/>
          </a:xfrm>
          <a:prstGeom prst="roundRect">
            <a:avLst>
              <a:gd name="adj" fmla="val 7998"/>
            </a:avLst>
          </a:prstGeom>
          <a:solidFill>
            <a:srgbClr val="111111"/>
          </a:solidFill>
          <a:ln w="12700">
            <a:solidFill>
              <a:srgbClr val="8C27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7825" y="3302000"/>
            <a:ext cx="2666333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97825" y="3746500"/>
            <a:ext cx="2666333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YouTube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72032" y="3111500"/>
            <a:ext cx="3174206" cy="1270000"/>
          </a:xfrm>
          <a:prstGeom prst="roundRect">
            <a:avLst>
              <a:gd name="adj" fmla="val 7998"/>
            </a:avLst>
          </a:prstGeom>
          <a:solidFill>
            <a:srgbClr val="111111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5968" y="3302000"/>
            <a:ext cx="2666333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00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125968" y="3746500"/>
            <a:ext cx="2666333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publicidad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905000"/>
            <a:ext cx="101574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esto con UN sistema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inteligencia artificial.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2285429" y="3302000"/>
            <a:ext cx="7618095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Operando 24/7 por $5 la noche.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159000"/>
            <a:ext cx="1015746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hablar de mi negocio,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650587" y="2857500"/>
            <a:ext cx="8887778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necesitan entender lo que está pasando.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159000"/>
            <a:ext cx="101574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lo que les voy a mostrar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es posible por ESTO.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1015746" y="1270000"/>
            <a:ext cx="3809048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 TIME HORIZON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5746" y="1778000"/>
            <a:ext cx="7618095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Nueva Ley de Moore</a:t>
            </a:r>
            <a:endParaRPr lang="en-US" sz="6400" dirty="0"/>
          </a:p>
          <a:p>
            <a:pPr algn="l" indent="0" marL="0">
              <a:buNone/>
            </a:pPr>
            <a:r>
              <a:rPr lang="en-US" sz="6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Agentes IA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1015746" y="3492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5746" y="3683000"/>
            <a:ext cx="3809048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METR / AI Digest. Marzo 2026.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887778" y="635000"/>
            <a:ext cx="1269683" cy="1270000"/>
          </a:xfrm>
          <a:prstGeom prst="ellipse">
            <a:avLst/>
          </a:prstGeom>
          <a:solidFill>
            <a:srgbClr val="F69F02"/>
          </a:solidFill>
          <a:ln/>
        </p:spPr>
      </p:sp>
      <p:sp>
        <p:nvSpPr>
          <p:cNvPr id="8" name="Shape 6"/>
          <p:cNvSpPr/>
          <p:nvPr/>
        </p:nvSpPr>
        <p:spPr>
          <a:xfrm>
            <a:off x="10157460" y="2540000"/>
            <a:ext cx="952262" cy="952500"/>
          </a:xfrm>
          <a:prstGeom prst="ellipse">
            <a:avLst/>
          </a:prstGeom>
          <a:solidFill>
            <a:srgbClr val="8C27F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254000"/>
            <a:ext cx="10665333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tiempo puede trabajar un agente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supervisión humana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824794" y="85725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capacidad se duplica cada 4 meses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plateau. Se ACELERA.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2027: un día. 2028: una semana. 2029: un mes.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4524" y="1270000"/>
            <a:ext cx="5078730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u="none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2022: 30 segundos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904524" y="1905000"/>
            <a:ext cx="507873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u="none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2024: minutos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15746" y="2667000"/>
            <a:ext cx="7618095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14 HORAS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904524" y="3810000"/>
            <a:ext cx="3809048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es con lo que yo opero HOY.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587103" y="1143000"/>
            <a:ext cx="0" cy="317500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0587" y="1905000"/>
            <a:ext cx="8887778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Jensen Huang dijo en Lex Fridman: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15746" y="2540000"/>
            <a:ext cx="10157460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ya llegó.</a:t>
            </a:r>
            <a:endParaRPr lang="en-US" sz="9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 se filtró Claude Mythos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8C27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8C2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968500"/>
            <a:ext cx="10157460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modelo nuevo es más apalancamiento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mi sistema.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920270" y="3175000"/>
            <a:ext cx="6348413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que yo haga nada.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159000"/>
            <a:ext cx="101574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les voy a enseñar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hice con esto.</a:t>
            </a:r>
            <a:endParaRPr lang="en-US" sz="5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1015746" y="1397000"/>
            <a:ext cx="2539365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NEGOCIO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5746" y="1841500"/>
            <a:ext cx="7618095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Factory</a:t>
            </a:r>
            <a:endParaRPr lang="en-US" sz="7200" dirty="0"/>
          </a:p>
          <a:p>
            <a:pPr algn="l" indent="0" marL="0">
              <a:buNone/>
            </a:pPr>
            <a:r>
              <a:rPr lang="en-US" sz="7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15746" y="3556000"/>
            <a:ext cx="507873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700+ miembros. YouTube como ÚNICO canal.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5746" y="3429000"/>
            <a:ext cx="1904524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87778" y="952500"/>
            <a:ext cx="1587103" cy="1587500"/>
          </a:xfrm>
          <a:prstGeom prst="ellipse">
            <a:avLst/>
          </a:prstGeom>
          <a:solidFill>
            <a:srgbClr val="F69F02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Pipeline Completo: Video → Venta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89952" y="825500"/>
            <a:ext cx="3809048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 pipeline completo]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317500"/>
            <a:ext cx="1015746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funciona mi negocio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89952" y="825500"/>
            <a:ext cx="3809048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0905" y="1397000"/>
            <a:ext cx="1904524" cy="762000"/>
          </a:xfrm>
          <a:prstGeom prst="roundRect">
            <a:avLst>
              <a:gd name="adj" fmla="val 11664"/>
            </a:avLst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0905" y="1651000"/>
            <a:ext cx="1904524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5429" y="1778000"/>
            <a:ext cx="38090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66333" y="1397000"/>
            <a:ext cx="1777556" cy="762000"/>
          </a:xfrm>
          <a:prstGeom prst="roundRect">
            <a:avLst>
              <a:gd name="adj" fmla="val 11664"/>
            </a:avLst>
          </a:prstGeom>
          <a:solidFill>
            <a:srgbClr val="111111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66333" y="1651000"/>
            <a:ext cx="1777556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43889" y="1778000"/>
            <a:ext cx="38090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4794" y="1397000"/>
            <a:ext cx="1777556" cy="762000"/>
          </a:xfrm>
          <a:prstGeom prst="roundRect">
            <a:avLst>
              <a:gd name="adj" fmla="val 11664"/>
            </a:avLst>
          </a:prstGeom>
          <a:solidFill>
            <a:srgbClr val="111111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4794" y="1651000"/>
            <a:ext cx="1777556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602349" y="1778000"/>
            <a:ext cx="38090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83254" y="1397000"/>
            <a:ext cx="1904524" cy="762000"/>
          </a:xfrm>
          <a:prstGeom prst="roundRect">
            <a:avLst>
              <a:gd name="adj" fmla="val 11664"/>
            </a:avLst>
          </a:prstGeom>
          <a:solidFill>
            <a:srgbClr val="111111"/>
          </a:solidFill>
          <a:ln w="25400">
            <a:solidFill>
              <a:srgbClr val="00CC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3254" y="1651000"/>
            <a:ext cx="1904524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u="none" dirty="0">
                <a:solidFill>
                  <a:srgbClr val="00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MIEMBROS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887778" y="1778000"/>
            <a:ext cx="38090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68682" y="1397000"/>
            <a:ext cx="2158460" cy="762000"/>
          </a:xfrm>
          <a:prstGeom prst="roundRect">
            <a:avLst>
              <a:gd name="adj" fmla="val 11664"/>
            </a:avLst>
          </a:prstGeom>
          <a:solidFill>
            <a:srgbClr val="111111"/>
          </a:solidFill>
          <a:ln w="25400">
            <a:solidFill>
              <a:srgbClr val="8C27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8682" y="1651000"/>
            <a:ext cx="2158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IA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15746" y="26670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todos esos datos alimentan la máquina.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159000"/>
            <a:ext cx="1015746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Relativamente simple.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69683" y="2921000"/>
            <a:ext cx="9649587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lo hace extraordinario es lo que pasa POR DETRÁS.</a:t>
            </a:r>
            <a:endParaRPr 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032000"/>
            <a:ext cx="1015746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esos datos van a un sistema.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269683" y="2730500"/>
            <a:ext cx="9649587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donde la IA tiene acceso a TODAS las variables.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905000"/>
            <a:ext cx="10157460" cy="165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es mi</a:t>
            </a:r>
            <a:endParaRPr lang="en-US" sz="8000" dirty="0"/>
          </a:p>
          <a:p>
            <a:pPr algn="ctr" indent="0" marL="0">
              <a:buNone/>
            </a:pPr>
            <a:r>
              <a:rPr lang="en-US" sz="80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OS.</a:t>
            </a:r>
            <a:endParaRPr lang="en-US" sz="8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54000"/>
            <a:ext cx="1015746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Business OS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824794" y="762000"/>
            <a:ext cx="2539365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825500"/>
          </a:xfrm>
          <a:prstGeom prst="roundRect">
            <a:avLst>
              <a:gd name="adj" fmla="val 12305"/>
            </a:avLst>
          </a:prstGeom>
          <a:solidFill>
            <a:srgbClr val="111111"/>
          </a:solidFill>
          <a:ln w="127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9683" y="1270000"/>
            <a:ext cx="380905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77556" y="1238250"/>
            <a:ext cx="2539365" cy="222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77556" y="1492250"/>
            <a:ext cx="8887778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1,300+ líneas de contexto, reglas, y sistema de decisiones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5746" y="2032000"/>
            <a:ext cx="10157460" cy="825500"/>
          </a:xfrm>
          <a:prstGeom prst="roundRect">
            <a:avLst>
              <a:gd name="adj" fmla="val 12305"/>
            </a:avLst>
          </a:prstGeom>
          <a:solidFill>
            <a:srgbClr val="111111"/>
          </a:solidFill>
          <a:ln w="12700">
            <a:solidFill>
              <a:srgbClr val="8C27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9683" y="2222500"/>
            <a:ext cx="380905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77556" y="2190750"/>
            <a:ext cx="2539365" cy="222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Skills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77556" y="2444750"/>
            <a:ext cx="8887778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Dominios especializados: video, slides, research, deploy, analytics...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5746" y="2984500"/>
            <a:ext cx="10157460" cy="825500"/>
          </a:xfrm>
          <a:prstGeom prst="roundRect">
            <a:avLst>
              <a:gd name="adj" fmla="val 12305"/>
            </a:avLst>
          </a:prstGeom>
          <a:solidFill>
            <a:srgbClr val="111111"/>
          </a:solidFill>
          <a:ln w="12700">
            <a:solidFill>
              <a:srgbClr val="F69F0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9683" y="3175000"/>
            <a:ext cx="380905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77556" y="3143250"/>
            <a:ext cx="3174206" cy="222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Persistente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77556" y="3397250"/>
            <a:ext cx="8887778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Correcciones permanentes. Nunca repite el mismo error.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5746" y="3937000"/>
            <a:ext cx="10157460" cy="825500"/>
          </a:xfrm>
          <a:prstGeom prst="roundRect">
            <a:avLst>
              <a:gd name="adj" fmla="val 12305"/>
            </a:avLst>
          </a:prstGeom>
          <a:solidFill>
            <a:srgbClr val="111111"/>
          </a:solidFill>
          <a:ln w="12700">
            <a:solidFill>
              <a:srgbClr val="8C27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9683" y="4127500"/>
            <a:ext cx="380905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77556" y="4095750"/>
            <a:ext cx="2539365" cy="222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Cron Jobs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77556" y="4349750"/>
            <a:ext cx="8887778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$5/noche. Scraping, análisis, reportes, auto-mejora.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5746" y="4889500"/>
            <a:ext cx="10157460" cy="825500"/>
          </a:xfrm>
          <a:prstGeom prst="roundRect">
            <a:avLst>
              <a:gd name="adj" fmla="val 12305"/>
            </a:avLst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9683" y="5080000"/>
            <a:ext cx="380905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777556" y="5048250"/>
            <a:ext cx="2539365" cy="222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777556" y="5302250"/>
            <a:ext cx="8887778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Predice churn, recomienda contenido, optimiza agentes.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81000"/>
            <a:ext cx="1904524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CEREBRO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1810" y="635000"/>
            <a:ext cx="5713571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1,300+ líneas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61810" y="1524000"/>
            <a:ext cx="1269683" cy="0"/>
          </a:xfrm>
          <a:prstGeom prst="line">
            <a:avLst/>
          </a:prstGeom>
          <a:noFill/>
          <a:ln w="25400">
            <a:solidFill>
              <a:srgbClr val="8C27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810" y="1778000"/>
            <a:ext cx="5713571" cy="12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quién soy, qué hago, cómo trabajo.</a:t>
            </a:r>
            <a:endParaRPr lang="en-US" sz="2200" dirty="0"/>
          </a:p>
          <a:p>
            <a:pPr algn="l" indent="0" marL="0">
              <a:buNone/>
            </a:pPr>
            <a:r>
              <a:rPr lang="en-US" sz="22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negocio, arquitectura, convenciones.</a:t>
            </a:r>
            <a:endParaRPr lang="en-US" sz="2200" dirty="0"/>
          </a:p>
          <a:p>
            <a:pPr algn="l" indent="0" marL="0">
              <a:buNone/>
            </a:pPr>
            <a:r>
              <a:rPr lang="en-US" sz="22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sabe TODO de mi empresa.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6286" y="635000"/>
            <a:ext cx="4570857" cy="3810000"/>
          </a:xfrm>
          <a:prstGeom prst="roundRect">
            <a:avLst>
              <a:gd name="adj" fmla="val 2000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6286" y="635000"/>
            <a:ext cx="4570857" cy="20320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6957860" y="698500"/>
            <a:ext cx="76181" cy="76200"/>
          </a:xfrm>
          <a:prstGeom prst="ellipse">
            <a:avLst/>
          </a:prstGeom>
          <a:solidFill>
            <a:srgbClr val="FF3333"/>
          </a:solidFill>
          <a:ln/>
        </p:spPr>
      </p:sp>
      <p:sp>
        <p:nvSpPr>
          <p:cNvPr id="9" name="Shape 7"/>
          <p:cNvSpPr/>
          <p:nvPr/>
        </p:nvSpPr>
        <p:spPr>
          <a:xfrm>
            <a:off x="7084828" y="698500"/>
            <a:ext cx="76181" cy="76200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0" name="Shape 8"/>
          <p:cNvSpPr/>
          <p:nvPr/>
        </p:nvSpPr>
        <p:spPr>
          <a:xfrm>
            <a:off x="7211797" y="698500"/>
            <a:ext cx="76181" cy="76200"/>
          </a:xfrm>
          <a:prstGeom prst="ellipse">
            <a:avLst/>
          </a:prstGeom>
          <a:solidFill>
            <a:srgbClr val="00CC66"/>
          </a:solidFill>
          <a:ln/>
        </p:spPr>
      </p:sp>
      <p:sp>
        <p:nvSpPr>
          <p:cNvPr id="11" name="Text 9"/>
          <p:cNvSpPr/>
          <p:nvPr/>
        </p:nvSpPr>
        <p:spPr>
          <a:xfrm>
            <a:off x="6983254" y="952500"/>
            <a:ext cx="4316921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u="none" dirty="0">
                <a:solidFill>
                  <a:srgbClr val="F69F02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 CLAUDE.md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83254" y="1143000"/>
            <a:ext cx="4316921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8C27F1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## Quién soy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83254" y="1333500"/>
            <a:ext cx="4316921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BBBBBB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Daniel Carreon, founder...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83254" y="1651000"/>
            <a:ext cx="4316921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8C27F1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## Stack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83254" y="1841500"/>
            <a:ext cx="4316921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00CC66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Next.js 16, Supabase, Stripe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83254" y="2159000"/>
            <a:ext cx="4316921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8C27F1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## Reglas de Negocio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83254" y="2349500"/>
            <a:ext cx="4316921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F69F02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- nunca_borrar_datos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83254" y="2540000"/>
            <a:ext cx="4316921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F69F02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- siempre_verificar_e2e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83254" y="2730500"/>
            <a:ext cx="4316921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F69F02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- commit_con_contexto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54000"/>
            <a:ext cx="1015746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Máquina Nocturna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89952" y="698500"/>
            <a:ext cx="3809048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39365" y="1079500"/>
            <a:ext cx="0" cy="457200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87003" y="1079500"/>
            <a:ext cx="304724" cy="30480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56786" y="1130300"/>
            <a:ext cx="5078730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11:55 PM — Scraping empieza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87003" y="1841500"/>
            <a:ext cx="304724" cy="30480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6786" y="1892300"/>
            <a:ext cx="5078730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12:15 AM — Análisis de competencia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387003" y="2603500"/>
            <a:ext cx="304724" cy="30480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8C27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6786" y="2654300"/>
            <a:ext cx="6348413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AM — ML predictions: churn, contenido, métricas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387003" y="3365500"/>
            <a:ext cx="304724" cy="30480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6786" y="3416300"/>
            <a:ext cx="6348413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3:37 AM — Auto-research: agentes mejoran prompts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387003" y="4127500"/>
            <a:ext cx="304724" cy="304800"/>
          </a:xfrm>
          <a:prstGeom prst="ellipse">
            <a:avLst/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6786" y="4178300"/>
            <a:ext cx="6348413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u="none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AM — Reportes generados, emails listos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387003" y="4889500"/>
            <a:ext cx="304724" cy="304800"/>
          </a:xfrm>
          <a:prstGeom prst="ellipse">
            <a:avLst/>
          </a:prstGeom>
          <a:solidFill>
            <a:srgbClr val="0A3D1A"/>
          </a:solidFill>
          <a:ln w="38100">
            <a:solidFill>
              <a:srgbClr val="00CC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6786" y="4940300"/>
            <a:ext cx="6348413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u="none" dirty="0">
                <a:solidFill>
                  <a:srgbClr val="00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6:00 AM — Dashboard actualizado. Listo para mí.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15746" y="5651500"/>
            <a:ext cx="2539365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$5-7 USD / noche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159000"/>
            <a:ext cx="1015746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despierto. Leo 60 segundos.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650587" y="2921000"/>
            <a:ext cx="8887778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sé todo lo que pasó en mi negocio.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317500"/>
            <a:ext cx="1015746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aplicado al negocio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555111" y="825500"/>
            <a:ext cx="5078730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7873" y="1270000"/>
            <a:ext cx="3555111" cy="3175000"/>
          </a:xfrm>
          <a:prstGeom prst="roundRect">
            <a:avLst>
              <a:gd name="adj" fmla="val 3199"/>
            </a:avLst>
          </a:prstGeom>
          <a:solidFill>
            <a:srgbClr val="111111"/>
          </a:solidFill>
          <a:ln w="25400">
            <a:solidFill>
              <a:srgbClr val="00CC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810" y="1524000"/>
            <a:ext cx="3047238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00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1810" y="1905000"/>
            <a:ext cx="3047238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va a cancelar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61810" y="2349500"/>
            <a:ext cx="3047238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semanas antes de que</a:t>
            </a:r>
            <a:endParaRPr lang="en-US" sz="1800" dirty="0"/>
          </a:p>
          <a:p>
            <a:pPr algn="l" indent="0" marL="0">
              <a:buNone/>
            </a:pPr>
            <a:r>
              <a:rPr lang="en-US" sz="18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suceda. Basado en patrones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engagement.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16921" y="1270000"/>
            <a:ext cx="3555111" cy="3175000"/>
          </a:xfrm>
          <a:prstGeom prst="roundRect">
            <a:avLst>
              <a:gd name="adj" fmla="val 3199"/>
            </a:avLst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0857" y="1524000"/>
            <a:ext cx="3047238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RECOMIENDA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0857" y="1905000"/>
            <a:ext cx="3047238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video grabar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0857" y="2349500"/>
            <a:ext cx="3047238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tendencias, gaps de</a:t>
            </a:r>
            <a:endParaRPr lang="en-US" sz="1800" dirty="0"/>
          </a:p>
          <a:p>
            <a:pPr algn="l" indent="0" marL="0">
              <a:buNone/>
            </a:pPr>
            <a:r>
              <a:rPr lang="en-US" sz="18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contenido, y lo que convierte.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views. Revenue.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25968" y="1270000"/>
            <a:ext cx="3555111" cy="3175000"/>
          </a:xfrm>
          <a:prstGeom prst="roundRect">
            <a:avLst>
              <a:gd name="adj" fmla="val 3199"/>
            </a:avLst>
          </a:prstGeom>
          <a:solidFill>
            <a:srgbClr val="111111"/>
          </a:solidFill>
          <a:ln w="25400">
            <a:solidFill>
              <a:srgbClr val="8C27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9905" y="1524000"/>
            <a:ext cx="3047238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AUTO-MEJORA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79905" y="1905000"/>
            <a:ext cx="3047238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se mejoran SOLOS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79905" y="2349500"/>
            <a:ext cx="3047238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noche evalúan su</a:t>
            </a:r>
            <a:endParaRPr lang="en-US" sz="1800" dirty="0"/>
          </a:p>
          <a:p>
            <a:pPr algn="l" indent="0" marL="0">
              <a:buNone/>
            </a:pPr>
            <a:r>
              <a:rPr lang="en-US" sz="18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propio rendimiento y</a:t>
            </a:r>
            <a:endParaRPr lang="en-US" sz="1800" dirty="0"/>
          </a:p>
          <a:p>
            <a:pPr algn="l" indent="0" marL="0">
              <a:buNone/>
            </a:pPr>
            <a:r>
              <a:rPr lang="en-US" sz="18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sus prompts.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159000"/>
            <a:ext cx="101574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más importante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descubrió mi sistema.</a:t>
            </a:r>
            <a:endParaRPr lang="en-US" sz="4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317500"/>
            <a:ext cx="10157460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churn es SILENCIOSO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89952" y="825500"/>
            <a:ext cx="3809048" cy="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810" y="1587500"/>
            <a:ext cx="4443889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0" b="1" u="none" dirty="0">
                <a:solidFill>
                  <a:srgbClr val="44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61810" y="2794000"/>
            <a:ext cx="4443889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u="none" dirty="0">
                <a:solidFill>
                  <a:srgbClr val="448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que CANCELAN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59635" y="1968500"/>
            <a:ext cx="1269683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u="none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83254" y="1587500"/>
            <a:ext cx="4443889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6983254" y="2794000"/>
            <a:ext cx="4443889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que se QUEDAN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50587" y="3492500"/>
            <a:ext cx="8887778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i="1" u="none" dirty="0">
                <a:solidFill>
                  <a:srgbClr val="FF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que se van no se quejan. Desaparecen.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905000"/>
            <a:ext cx="10157460" cy="101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sistema los detecta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semanas antes.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69683" y="3175000"/>
            <a:ext cx="9649587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les envía un mensaje personalizado automáticamente.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254000"/>
            <a:ext cx="10665333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no son ventas.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modelo descubrió qué SÍ convierte.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89952" y="889000"/>
            <a:ext cx="3809048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111250"/>
            <a:ext cx="10157460" cy="5016500"/>
          </a:xfrm>
          <a:prstGeom prst="roundRect">
            <a:avLst>
              <a:gd name="adj" fmla="val 2025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81000"/>
            <a:ext cx="2539365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FLYWHEEL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1810" y="635000"/>
            <a:ext cx="5713571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se conecta,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se compone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61810" y="1524000"/>
            <a:ext cx="1269683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1810" y="1778000"/>
            <a:ext cx="5713571" cy="158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→ Pagos → Miembros</a:t>
            </a:r>
            <a:endParaRPr lang="en-US" sz="2400" dirty="0"/>
          </a:p>
          <a:p>
            <a:pPr algn="l" indent="0" marL="0">
              <a:buNone/>
            </a:pPr>
            <a:r>
              <a:rPr lang="en-US" sz="24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Agentes → ML → Mejores Videos</a:t>
            </a:r>
            <a:endParaRPr lang="en-US" sz="2400" dirty="0"/>
          </a:p>
          <a:p>
            <a:pPr algn="l" indent="0" marL="0">
              <a:buNone/>
            </a:pPr>
            <a:endParaRPr lang="en-US" sz="2400" dirty="0"/>
          </a:p>
          <a:p>
            <a:pPr algn="l" indent="0" marL="0">
              <a:buNone/>
            </a:pPr>
            <a:r>
              <a:rPr lang="en-US" sz="24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Interés compuesto de datos.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1810" y="3429000"/>
            <a:ext cx="5713571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i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vuelta del flywheel alimenta la siguiente.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6286" y="635000"/>
            <a:ext cx="4570857" cy="4445000"/>
          </a:xfrm>
          <a:prstGeom prst="roundRect">
            <a:avLst>
              <a:gd name="adj" fmla="val 2285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6286" y="2540000"/>
            <a:ext cx="4570857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IMAGEN: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flywheel]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778000"/>
            <a:ext cx="10157460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modelo nuevo hace que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esto sea más poderoso.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que yo haga nada.</a:t>
            </a:r>
            <a:endParaRPr lang="en-US" sz="4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905000"/>
            <a:ext cx="10157460" cy="952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les mostré funciona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modelo de HOY.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650587" y="3111500"/>
            <a:ext cx="8887778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más débil que jamás volveremos a usar.</a:t>
            </a:r>
            <a:endParaRPr lang="en-US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317500"/>
            <a:ext cx="10665333" cy="44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ventana se cierra. 18-24 meses de ventaja.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824794" y="825500"/>
            <a:ext cx="2539365" cy="0"/>
          </a:xfrm>
          <a:prstGeom prst="line">
            <a:avLst/>
          </a:prstGeom>
          <a:noFill/>
          <a:ln w="25400">
            <a:solidFill>
              <a:srgbClr val="FF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079500"/>
            <a:ext cx="10157460" cy="5080000"/>
          </a:xfrm>
          <a:prstGeom prst="roundRect">
            <a:avLst>
              <a:gd name="adj" fmla="val 2000"/>
            </a:avLst>
          </a:prstGeom>
          <a:solidFill>
            <a:srgbClr val="1A1A1A"/>
          </a:solidFill>
          <a:ln w="25400">
            <a:solidFill>
              <a:srgbClr val="FF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10" y="254000"/>
            <a:ext cx="10665333" cy="57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son secuenciales. Son paralelos.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reacción en cadena.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89952" y="889000"/>
            <a:ext cx="3809048" cy="0"/>
          </a:xfrm>
          <a:prstGeom prst="line">
            <a:avLst/>
          </a:prstGeom>
          <a:noFill/>
          <a:ln w="25400">
            <a:solidFill>
              <a:srgbClr val="F69F0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5746" y="1111250"/>
            <a:ext cx="10157460" cy="5016500"/>
          </a:xfrm>
          <a:prstGeom prst="roundRect">
            <a:avLst>
              <a:gd name="adj" fmla="val 2025"/>
            </a:avLst>
          </a:prstGeom>
          <a:solidFill>
            <a:srgbClr val="1A1A1A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746" y="3365500"/>
            <a:ext cx="1015746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[INSERTAR IMAGEN]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778000"/>
            <a:ext cx="2539365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u="none" dirty="0">
                <a:solidFill>
                  <a:srgbClr val="8C27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HORMOZI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5746" y="2159000"/>
            <a:ext cx="1015746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= Volumen</a:t>
            </a:r>
            <a:endParaRPr lang="en-US" sz="6400" dirty="0"/>
          </a:p>
          <a:p>
            <a:pPr algn="ctr" indent="0" marL="0">
              <a:buNone/>
            </a:pPr>
            <a:r>
              <a:rPr lang="en-US" sz="6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Apalancamiento</a:t>
            </a:r>
            <a:endParaRPr lang="en-US" sz="6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159000"/>
            <a:ext cx="1015746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trabajo más horas.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69683" y="2921000"/>
            <a:ext cx="9649587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MISMAS horas con 1,000x más apalancamiento.</a:t>
            </a:r>
            <a:endParaRPr lang="en-US" sz="3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1905000"/>
            <a:ext cx="10157460" cy="165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es</a:t>
            </a:r>
            <a:endParaRPr lang="en-US" sz="7200" dirty="0"/>
          </a:p>
          <a:p>
            <a:pPr algn="ctr" indent="0" marL="0">
              <a:buNone/>
            </a:pPr>
            <a:r>
              <a:rPr lang="en-US" sz="7200" b="1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empiezas.</a:t>
            </a:r>
            <a:endParaRPr lang="en-US" sz="7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317500"/>
            <a:ext cx="507873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regalo.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15746" y="762000"/>
            <a:ext cx="5078730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u="none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CLAUDE.md original. 1,300+ líneas. Gratis.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34841" y="1270000"/>
            <a:ext cx="5459635" cy="3810000"/>
          </a:xfrm>
          <a:prstGeom prst="roundRect">
            <a:avLst>
              <a:gd name="adj" fmla="val 2000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4841" y="1270000"/>
            <a:ext cx="5459635" cy="20320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25294" y="15875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u="none" dirty="0">
                <a:solidFill>
                  <a:srgbClr val="F69F02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 CLAUDE.md — SaaS Factory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5294" y="18415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8C27F1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## Identidad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5294" y="20320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8C27F1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## Stack de producción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5294" y="22225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8C27F1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## Reglas de negocio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5294" y="24130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8C27F1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## Skills (18 dominios)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5294" y="26035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8C27F1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## Memoria persistente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5294" y="27940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00CC66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## Machine Learning pipeline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5294" y="2984500"/>
            <a:ext cx="5078730" cy="17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u="none" dirty="0">
                <a:solidFill>
                  <a:srgbClr val="00CC66"/>
                </a:solidFill>
                <a:latin typeface="Menlo, monospace" pitchFamily="34" charset="0"/>
                <a:ea typeface="Menlo, monospace" pitchFamily="34" charset="-122"/>
                <a:cs typeface="Menlo, monospace" pitchFamily="34" charset="-120"/>
              </a:rPr>
              <a:t>## Cron jobs nocturnos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02349" y="1270000"/>
            <a:ext cx="4951762" cy="3810000"/>
          </a:xfrm>
          <a:prstGeom prst="roundRect">
            <a:avLst>
              <a:gd name="adj" fmla="val 2666"/>
            </a:avLst>
          </a:prstGeom>
          <a:solidFill>
            <a:srgbClr val="111111"/>
          </a:solidFill>
          <a:ln w="25400">
            <a:solidFill>
              <a:srgbClr val="F69F0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2349" y="2540000"/>
            <a:ext cx="4951762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u="non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[QR CODE]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02349" y="3048000"/>
            <a:ext cx="4951762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 → Descarga mi CLAUDE.md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159000"/>
            <a:ext cx="1015746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6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@danielcarreong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285429" y="2794000"/>
            <a:ext cx="7618095" cy="31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saasfactory.so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0270" y="3238500"/>
            <a:ext cx="6348413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u="none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700+ Arquitectos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09048" y="2032000"/>
            <a:ext cx="4570857" cy="0"/>
          </a:xfrm>
          <a:prstGeom prst="line">
            <a:avLst/>
          </a:prstGeom>
          <a:noFill/>
          <a:ln w="12700">
            <a:solidFill>
              <a:srgbClr val="F69F0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9048" y="3683000"/>
            <a:ext cx="4570857" cy="0"/>
          </a:xfrm>
          <a:prstGeom prst="line">
            <a:avLst/>
          </a:prstGeom>
          <a:noFill/>
          <a:ln w="12700">
            <a:solidFill>
              <a:srgbClr val="F69F02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746" y="2159000"/>
            <a:ext cx="10157460" cy="50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Superinteligencia aplicada a negocios.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285429" y="2921000"/>
            <a:ext cx="7618095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u="none" dirty="0">
                <a:solidFill>
                  <a:srgbClr val="F69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no es el futuro. Es hoy.</a:t>
            </a:r>
            <a:endParaRPr lang="en-US" sz="3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1015746" y="2032000"/>
            <a:ext cx="10157460" cy="12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 Daniel Carreon.</a:t>
            </a:r>
            <a:endParaRPr lang="en-US" sz="6400" dirty="0"/>
          </a:p>
          <a:p>
            <a:pPr algn="ctr" indent="0" marL="0">
              <a:buNone/>
            </a:pPr>
            <a:r>
              <a:rPr lang="en-US" sz="6400" b="1" u="non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920270" y="3556000"/>
            <a:ext cx="6348413" cy="25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u="none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Land 2026 | Business Land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89952" y="3429000"/>
            <a:ext cx="3809048" cy="0"/>
          </a:xfrm>
          <a:prstGeom prst="line">
            <a:avLst/>
          </a:prstGeom>
          <a:noFill/>
          <a:ln w="12700">
            <a:solidFill>
              <a:srgbClr val="F69F0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9683" y="317500"/>
            <a:ext cx="952262" cy="952500"/>
          </a:xfrm>
          <a:prstGeom prst="ellipse">
            <a:avLst/>
          </a:prstGeom>
          <a:solidFill>
            <a:srgbClr val="F69F02"/>
          </a:solidFill>
          <a:ln/>
        </p:spPr>
      </p:sp>
      <p:sp>
        <p:nvSpPr>
          <p:cNvPr id="7" name="Shape 5"/>
          <p:cNvSpPr/>
          <p:nvPr/>
        </p:nvSpPr>
        <p:spPr>
          <a:xfrm>
            <a:off x="9522619" y="635000"/>
            <a:ext cx="1269683" cy="1270000"/>
          </a:xfrm>
          <a:prstGeom prst="ellipse">
            <a:avLst/>
          </a:prstGeom>
          <a:solidFill>
            <a:srgbClr val="8C27F1"/>
          </a:solidFill>
          <a:ln/>
        </p:spPr>
      </p:sp>
      <p:sp>
        <p:nvSpPr>
          <p:cNvPr id="8" name="Shape 6"/>
          <p:cNvSpPr/>
          <p:nvPr/>
        </p:nvSpPr>
        <p:spPr>
          <a:xfrm>
            <a:off x="5078730" y="5080000"/>
            <a:ext cx="1142714" cy="1143000"/>
          </a:xfrm>
          <a:prstGeom prst="ellipse">
            <a:avLst/>
          </a:prstGeom>
          <a:solidFill>
            <a:srgbClr val="F69F0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 Business OS</dc:title>
  <dc:subject>PptxGenJS Presentation</dc:subject>
  <dc:creator>Daniel Carreon</dc:creator>
  <cp:lastModifiedBy>Daniel Carreon</cp:lastModifiedBy>
  <cp:revision>1</cp:revision>
  <dcterms:created xsi:type="dcterms:W3CDTF">2026-04-01T23:57:55Z</dcterms:created>
  <dcterms:modified xsi:type="dcterms:W3CDTF">2026-04-01T23:57:55Z</dcterms:modified>
</cp:coreProperties>
</file>